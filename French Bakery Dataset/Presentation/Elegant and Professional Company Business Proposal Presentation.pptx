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 Heavy" charset="1" panose="00000A00000000000000"/>
      <p:regular r:id="rId22"/>
    </p:embeddedFont>
    <p:embeddedFont>
      <p:font typeface="Lato Bold" charset="1" panose="020F0502020204030203"/>
      <p:regular r:id="rId23"/>
    </p:embeddedFont>
    <p:embeddedFont>
      <p:font typeface="Lato" charset="1" panose="020F0502020204030203"/>
      <p:regular r:id="rId24"/>
    </p:embeddedFont>
    <p:embeddedFont>
      <p:font typeface="Poppins Ultra-Bold" charset="1" panose="00000900000000000000"/>
      <p:regular r:id="rId25"/>
    </p:embeddedFont>
    <p:embeddedFont>
      <p:font typeface="Lato Italics" charset="1" panose="020F0502020204030203"/>
      <p:regular r:id="rId26"/>
    </p:embeddedFont>
    <p:embeddedFont>
      <p:font typeface="Lato Bold Italics" charset="1" panose="020F05020202040302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0420676" y="7121227"/>
            <a:ext cx="6164339" cy="6164339"/>
            <a:chOff x="0" y="0"/>
            <a:chExt cx="1913890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70290"/>
            <a:ext cx="3860610" cy="3526101"/>
          </a:xfrm>
          <a:custGeom>
            <a:avLst/>
            <a:gdLst/>
            <a:ahLst/>
            <a:cxnLst/>
            <a:rect r="r" b="b" t="t" l="l"/>
            <a:pathLst>
              <a:path h="3526101" w="3860610">
                <a:moveTo>
                  <a:pt x="0" y="0"/>
                </a:moveTo>
                <a:lnTo>
                  <a:pt x="3860610" y="0"/>
                </a:lnTo>
                <a:lnTo>
                  <a:pt x="3860610" y="3526101"/>
                </a:lnTo>
                <a:lnTo>
                  <a:pt x="0" y="3526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205" r="0" b="-328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74024" y="3676606"/>
            <a:ext cx="12616379" cy="146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b="true" sz="9999" spc="999">
                <a:solidFill>
                  <a:srgbClr val="5271FF"/>
                </a:solidFill>
                <a:latin typeface="Poppins Heavy"/>
                <a:ea typeface="Poppins Heavy"/>
                <a:cs typeface="Poppins Heavy"/>
                <a:sym typeface="Poppins Heavy"/>
              </a:rPr>
              <a:t>FRENCH BAKERY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24837" y="4977780"/>
            <a:ext cx="9145097" cy="178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b="true" sz="12000" spc="600">
                <a:solidFill>
                  <a:srgbClr val="2B4A9D"/>
                </a:solidFill>
                <a:latin typeface="Poppins Heavy"/>
                <a:ea typeface="Poppins Heavy"/>
                <a:cs typeface="Poppins Heavy"/>
                <a:sym typeface="Poppins Heavy"/>
              </a:rPr>
              <a:t>ANALYSIS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24837" y="7260387"/>
            <a:ext cx="6799208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PRESENTED BY AMISH ILYAS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19111" y="6606107"/>
            <a:ext cx="13640189" cy="335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0674" indent="-515337" lvl="1">
              <a:lnSpc>
                <a:spcPts val="6683"/>
              </a:lnSpc>
              <a:buFont typeface="Arial"/>
              <a:buChar char="•"/>
            </a:pPr>
            <a:r>
              <a:rPr lang="en-US" sz="4773" spc="47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PROBLEM STATEMENT</a:t>
            </a:r>
          </a:p>
          <a:p>
            <a:pPr algn="l" marL="1030674" indent="-515337" lvl="1">
              <a:lnSpc>
                <a:spcPts val="6683"/>
              </a:lnSpc>
              <a:buFont typeface="Arial"/>
              <a:buChar char="•"/>
            </a:pPr>
            <a:r>
              <a:rPr lang="en-US" sz="4773" spc="47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STEPS AND TOOLS </a:t>
            </a:r>
          </a:p>
          <a:p>
            <a:pPr algn="l" marL="1030674" indent="-515337" lvl="1">
              <a:lnSpc>
                <a:spcPts val="6683"/>
              </a:lnSpc>
              <a:buFont typeface="Arial"/>
              <a:buChar char="•"/>
            </a:pPr>
            <a:r>
              <a:rPr lang="en-US" sz="4773" spc="47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ANALYSIS</a:t>
            </a:r>
          </a:p>
          <a:p>
            <a:pPr algn="l" marL="1030674" indent="-515337" lvl="1">
              <a:lnSpc>
                <a:spcPts val="6683"/>
              </a:lnSpc>
              <a:buFont typeface="Arial"/>
              <a:buChar char="•"/>
            </a:pPr>
            <a:r>
              <a:rPr lang="en-US" sz="4773" spc="47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INSIGHTS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350625"/>
            <a:chOff x="0" y="0"/>
            <a:chExt cx="6671512" cy="231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71512" cy="2316725"/>
            </a:xfrm>
            <a:custGeom>
              <a:avLst/>
              <a:gdLst/>
              <a:ahLst/>
              <a:cxnLst/>
              <a:rect r="r" b="b" t="t" l="l"/>
              <a:pathLst>
                <a:path h="2316725" w="6671512">
                  <a:moveTo>
                    <a:pt x="0" y="0"/>
                  </a:moveTo>
                  <a:lnTo>
                    <a:pt x="6671512" y="0"/>
                  </a:lnTo>
                  <a:lnTo>
                    <a:pt x="6671512" y="2316725"/>
                  </a:lnTo>
                  <a:lnTo>
                    <a:pt x="0" y="2316725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510755" y="471606"/>
            <a:ext cx="12308361" cy="5407413"/>
            <a:chOff x="0" y="0"/>
            <a:chExt cx="16411148" cy="720988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0" t="17050" r="0" b="17050"/>
            <a:stretch>
              <a:fillRect/>
            </a:stretch>
          </p:blipFill>
          <p:spPr>
            <a:xfrm flipH="false" flipV="false">
              <a:off x="0" y="0"/>
              <a:ext cx="16411148" cy="7209884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419100" y="2051395"/>
            <a:ext cx="4967830" cy="169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6000" spc="300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1143419" y="8043030"/>
            <a:ext cx="6164339" cy="6164339"/>
            <a:chOff x="0" y="0"/>
            <a:chExt cx="1913890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1143419" y="-3920369"/>
            <a:ext cx="6164339" cy="6164339"/>
            <a:chOff x="0" y="0"/>
            <a:chExt cx="1913890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931716" y="1749320"/>
            <a:ext cx="4065964" cy="5413299"/>
            <a:chOff x="0" y="0"/>
            <a:chExt cx="3663950" cy="48780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2"/>
              <a:stretch>
                <a:fillRect l="-37769" t="0" r="-76029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63456" y="705375"/>
            <a:ext cx="7666244" cy="18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b="true" sz="6713" spc="33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PROBLEM STATEMENT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9454" y="3089339"/>
            <a:ext cx="11453392" cy="6127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2"/>
              </a:lnSpc>
            </a:pPr>
            <a:r>
              <a:rPr lang="en-US" b="true" sz="3880" spc="388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OPTIMIZING SALES &amp; INVENTORY MANAGEMENT FOR A FRENCH BAKERY</a:t>
            </a:r>
          </a:p>
          <a:p>
            <a:pPr algn="l">
              <a:lnSpc>
                <a:spcPts val="3753"/>
              </a:lnSpc>
            </a:pPr>
          </a:p>
          <a:p>
            <a:pPr algn="l">
              <a:lnSpc>
                <a:spcPts val="3753"/>
              </a:lnSpc>
            </a:pPr>
            <a:r>
              <a:rPr lang="en-US" sz="2680" spc="26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bakery is experiencing inconsistent sales patterns, leading to potential issues like overstocking, understocking, and missed revenue opportunities. Additionally, the business is unsure about the best-selling products, peak sales hours, and customer purchasing behavior, making it difficult to optimize pricing, staffing, and promotions. </a:t>
            </a:r>
          </a:p>
          <a:p>
            <a:pPr algn="l">
              <a:lnSpc>
                <a:spcPts val="3753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1143419" y="8043030"/>
            <a:ext cx="6164339" cy="6164339"/>
            <a:chOff x="0" y="0"/>
            <a:chExt cx="1913890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1143419" y="-3920369"/>
            <a:ext cx="6164339" cy="6164339"/>
            <a:chOff x="0" y="0"/>
            <a:chExt cx="1913890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646405" y="1781021"/>
            <a:ext cx="4065964" cy="5413299"/>
            <a:chOff x="0" y="0"/>
            <a:chExt cx="3663950" cy="48780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2"/>
              <a:stretch>
                <a:fillRect l="-50473" t="0" r="-50473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5271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63456" y="705375"/>
            <a:ext cx="7666244" cy="188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48"/>
              </a:lnSpc>
            </a:pPr>
            <a:r>
              <a:rPr lang="en-US" b="true" sz="6713" spc="33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DATASET 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6673" y="3807731"/>
            <a:ext cx="10159695" cy="583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b="true" sz="4142" spc="414">
                <a:solidFill>
                  <a:srgbClr val="004AAD"/>
                </a:solidFill>
                <a:latin typeface="Lato Bold"/>
                <a:ea typeface="Lato Bold"/>
                <a:cs typeface="Lato Bold"/>
                <a:sym typeface="Lato Bold"/>
              </a:rPr>
              <a:t>COLUMNS PRESENT IN DATASET :</a:t>
            </a:r>
          </a:p>
          <a:p>
            <a:pPr algn="l">
              <a:lnSpc>
                <a:spcPts val="5799"/>
              </a:lnSpc>
            </a:pPr>
            <a:r>
              <a:rPr lang="en-US" b="true" sz="4142" spc="41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DATE </a:t>
            </a:r>
          </a:p>
          <a:p>
            <a:pPr algn="l">
              <a:lnSpc>
                <a:spcPts val="5799"/>
              </a:lnSpc>
            </a:pPr>
            <a:r>
              <a:rPr lang="en-US" b="true" sz="4142" spc="41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TIME </a:t>
            </a:r>
          </a:p>
          <a:p>
            <a:pPr algn="l">
              <a:lnSpc>
                <a:spcPts val="5799"/>
              </a:lnSpc>
            </a:pPr>
            <a:r>
              <a:rPr lang="en-US" b="true" sz="4142" spc="41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TICKET_NUMBER</a:t>
            </a:r>
          </a:p>
          <a:p>
            <a:pPr algn="l">
              <a:lnSpc>
                <a:spcPts val="5799"/>
              </a:lnSpc>
            </a:pPr>
            <a:r>
              <a:rPr lang="en-US" b="true" sz="4142" spc="41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ARTICLE</a:t>
            </a:r>
          </a:p>
          <a:p>
            <a:pPr algn="l">
              <a:lnSpc>
                <a:spcPts val="5799"/>
              </a:lnSpc>
            </a:pPr>
            <a:r>
              <a:rPr lang="en-US" b="true" sz="4142" spc="41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QUANTITY</a:t>
            </a:r>
          </a:p>
          <a:p>
            <a:pPr algn="l">
              <a:lnSpc>
                <a:spcPts val="5799"/>
              </a:lnSpc>
            </a:pPr>
            <a:r>
              <a:rPr lang="en-US" b="true" sz="4142" spc="41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UNIT_PRICE</a:t>
            </a:r>
          </a:p>
          <a:p>
            <a:pPr algn="l">
              <a:lnSpc>
                <a:spcPts val="579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5000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-1580822" y="-292307"/>
            <a:ext cx="3090723" cy="3090723"/>
            <a:chOff x="0" y="0"/>
            <a:chExt cx="1913890" cy="1913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4" id="4"/>
          <p:cNvGrpSpPr/>
          <p:nvPr/>
        </p:nvGrpSpPr>
        <p:grpSpPr>
          <a:xfrm rot="-2700000">
            <a:off x="-1412966" y="-124452"/>
            <a:ext cx="2755011" cy="2755011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-8100000">
            <a:off x="16778099" y="-292307"/>
            <a:ext cx="3090723" cy="3090723"/>
            <a:chOff x="0" y="0"/>
            <a:chExt cx="1913890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8" id="8"/>
          <p:cNvGrpSpPr/>
          <p:nvPr/>
        </p:nvGrpSpPr>
        <p:grpSpPr>
          <a:xfrm rot="-2700000">
            <a:off x="16945955" y="-124452"/>
            <a:ext cx="2755011" cy="2755011"/>
            <a:chOff x="0" y="0"/>
            <a:chExt cx="1913890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191726" y="7690199"/>
            <a:ext cx="1892527" cy="1882204"/>
          </a:xfrm>
          <a:custGeom>
            <a:avLst/>
            <a:gdLst/>
            <a:ahLst/>
            <a:cxnLst/>
            <a:rect r="r" b="b" t="t" l="l"/>
            <a:pathLst>
              <a:path h="1882204" w="1892527">
                <a:moveTo>
                  <a:pt x="0" y="0"/>
                </a:moveTo>
                <a:lnTo>
                  <a:pt x="1892527" y="0"/>
                </a:lnTo>
                <a:lnTo>
                  <a:pt x="1892527" y="1882204"/>
                </a:lnTo>
                <a:lnTo>
                  <a:pt x="0" y="18822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0498" y="1076853"/>
            <a:ext cx="15327005" cy="119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8000" spc="400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STEPS AND TOOLS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14872" y="3390932"/>
            <a:ext cx="4072578" cy="101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6999" spc="349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Mission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7972" y="3390932"/>
            <a:ext cx="4072578" cy="101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6999" spc="349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Vision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765" y="3057579"/>
            <a:ext cx="13773729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STEP 1 : IMPORTED DATA AS A DATAFRAME IN PANDAS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765" y="3886244"/>
            <a:ext cx="13773729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STEP 2 : PERFORMED EDA TO UNDERSTAND DATA 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765" y="4619669"/>
            <a:ext cx="13773729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STEP 3 : DATA CLEANING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765" y="5448300"/>
            <a:ext cx="13773729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STEP 4 : FEATURE ENGINNERING 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3765" y="6276931"/>
            <a:ext cx="13773729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STEP 5 : ANALYSIS 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41393" y="7981861"/>
            <a:ext cx="13773729" cy="159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0">
                <a:solidFill>
                  <a:srgbClr val="004AAD"/>
                </a:solidFill>
                <a:latin typeface="Lato Bold"/>
                <a:ea typeface="Lato Bold"/>
                <a:cs typeface="Lato Bold"/>
                <a:sym typeface="Lato Bold"/>
              </a:rPr>
              <a:t>THIS PROJECT IS CREATED USING PURE PYTHON AS DATA CONSISTS OF 200K PLUS RECORDS MAKING IT DIFFICULT TO ANALYZE IN EXCEL DUE TO PERFORMANCE ISSUE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3161228" y="-3161228"/>
            <a:ext cx="1629197" cy="7951652"/>
            <a:chOff x="0" y="0"/>
            <a:chExt cx="2354580" cy="11492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3310" cy="11492046"/>
            </a:xfrm>
            <a:custGeom>
              <a:avLst/>
              <a:gdLst/>
              <a:ahLst/>
              <a:cxnLst/>
              <a:rect r="r" b="b" t="t" l="l"/>
              <a:pathLst>
                <a:path h="11492046" w="2353310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99140" y="3568744"/>
            <a:ext cx="7441558" cy="6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i="true" spc="399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1 </a:t>
            </a:r>
            <a:r>
              <a:rPr lang="en-US" b="true" sz="3999" i="true" spc="399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Total Orders : </a:t>
            </a:r>
            <a:r>
              <a:rPr lang="en-US" b="true" sz="3999" i="true" spc="399">
                <a:solidFill>
                  <a:srgbClr val="F55A17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219756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2168" y="5103842"/>
            <a:ext cx="487056" cy="52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30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9140" y="1850852"/>
            <a:ext cx="3221442" cy="1095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9"/>
              </a:lnSpc>
            </a:pPr>
            <a:r>
              <a:rPr lang="en-US" b="true" sz="6378" spc="637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KPI’S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294" y="324050"/>
            <a:ext cx="7020782" cy="101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b="true" sz="6999" spc="349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9140" y="5124450"/>
            <a:ext cx="8355584" cy="6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i="true" spc="399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2 </a:t>
            </a:r>
            <a:r>
              <a:rPr lang="en-US" b="true" sz="3999" i="true" spc="399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AVG Order Quantity : </a:t>
            </a:r>
            <a:r>
              <a:rPr lang="en-US" b="true" sz="3999" i="true" spc="399">
                <a:solidFill>
                  <a:srgbClr val="F55A17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1.349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9140" y="6684892"/>
            <a:ext cx="8370217" cy="6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i="true" spc="399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3 </a:t>
            </a:r>
            <a:r>
              <a:rPr lang="en-US" b="true" sz="3999" i="true" spc="399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Total Revenue : </a:t>
            </a:r>
            <a:r>
              <a:rPr lang="en-US" b="true" sz="3999" i="true" spc="399">
                <a:solidFill>
                  <a:srgbClr val="F55A17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478662.69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9140" y="8097723"/>
            <a:ext cx="9527311" cy="62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9"/>
              </a:lnSpc>
            </a:pPr>
            <a:r>
              <a:rPr lang="en-US" sz="3999" i="true" spc="399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4 Average Ticket Size</a:t>
            </a:r>
            <a:r>
              <a:rPr lang="en-US" b="true" sz="3999" i="true" spc="399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: </a:t>
            </a:r>
            <a:r>
              <a:rPr lang="en-US" b="true" sz="3999" i="true" spc="399">
                <a:solidFill>
                  <a:srgbClr val="F55A17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478662.69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5477" y="1233401"/>
            <a:ext cx="9321891" cy="5001471"/>
          </a:xfrm>
          <a:custGeom>
            <a:avLst/>
            <a:gdLst/>
            <a:ahLst/>
            <a:cxnLst/>
            <a:rect r="r" b="b" t="t" l="l"/>
            <a:pathLst>
              <a:path h="5001471" w="9321891">
                <a:moveTo>
                  <a:pt x="0" y="0"/>
                </a:moveTo>
                <a:lnTo>
                  <a:pt x="9321891" y="0"/>
                </a:lnTo>
                <a:lnTo>
                  <a:pt x="9321891" y="5001471"/>
                </a:lnTo>
                <a:lnTo>
                  <a:pt x="0" y="5001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378" y="274116"/>
            <a:ext cx="13406583" cy="75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b="true" sz="5113" spc="25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YEARLY REVENUE AND QUANTITY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8378" y="6377747"/>
            <a:ext cx="10919038" cy="132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b="true" sz="2506" i="true" spc="250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1 2021 HAD HIGHER REVENUE COMPARED TO 2022.</a:t>
            </a:r>
          </a:p>
          <a:p>
            <a:pPr algn="ctr">
              <a:lnSpc>
                <a:spcPts val="3509"/>
              </a:lnSpc>
            </a:pPr>
          </a:p>
          <a:p>
            <a:pPr algn="ctr">
              <a:lnSpc>
                <a:spcPts val="350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47839" y="7310382"/>
            <a:ext cx="15336089" cy="155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8"/>
              </a:lnSpc>
            </a:pPr>
            <a:r>
              <a:rPr lang="en-US" b="true" sz="2206" i="true" spc="220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2 QUANTITY SOLD ALSO DECREASED IN 2022, THOUGH NOT AS SIGNIFICANTLY AS REVENUE.</a:t>
            </a:r>
          </a:p>
          <a:p>
            <a:pPr algn="ctr">
              <a:lnSpc>
                <a:spcPts val="3088"/>
              </a:lnSpc>
            </a:pPr>
          </a:p>
          <a:p>
            <a:pPr algn="ctr">
              <a:lnSpc>
                <a:spcPts val="3088"/>
              </a:lnSpc>
            </a:pPr>
          </a:p>
          <a:p>
            <a:pPr algn="ctr">
              <a:lnSpc>
                <a:spcPts val="308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69606" y="8308547"/>
            <a:ext cx="16367382" cy="185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i="true" spc="210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3 THE GAP BETWEEN REVENUE AND QUANTITY IS LARGER IN 2021, INDICATING THAT EITHER HIGHER-PRICED PRODUCTS WERE SOLD OR PRICES WERE INCREASED IN THAT YEAR.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225587"/>
            <a:ext cx="10595617" cy="4927763"/>
          </a:xfrm>
          <a:custGeom>
            <a:avLst/>
            <a:gdLst/>
            <a:ahLst/>
            <a:cxnLst/>
            <a:rect r="r" b="b" t="t" l="l"/>
            <a:pathLst>
              <a:path h="4927763" w="10595617">
                <a:moveTo>
                  <a:pt x="0" y="0"/>
                </a:moveTo>
                <a:lnTo>
                  <a:pt x="10595617" y="0"/>
                </a:lnTo>
                <a:lnTo>
                  <a:pt x="10595617" y="4927764"/>
                </a:lnTo>
                <a:lnTo>
                  <a:pt x="0" y="49277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5" r="0" b="-28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378" y="274116"/>
            <a:ext cx="9951151" cy="75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b="true" sz="5113" spc="25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TOP 10 MOST SELLING ITEMS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1988" y="6610448"/>
            <a:ext cx="14073580" cy="36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b="true" sz="2095" i="true" spc="209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1 TRADITIONAL BAGUETTE DOMINATES SALES SIGNIFICIANTLY  , OUTSPANCING OTHER ITEMS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8378" y="7195439"/>
            <a:ext cx="17931243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i="true" spc="210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2 OTHER POPULAR ITEMS INCLUDE COUPE, BAGUETTE, BANETTE, AND CROISSANT —INDICATING STRONG CUSTOMER DEMAND FOR BAKERY STAPLES.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31988" y="8256656"/>
            <a:ext cx="12875517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i="true" spc="210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3 THE UNIT PRICE IS SHADED, WITH DARKER SHADES REPRESENTING HIGHER PRICES.</a:t>
            </a: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5183" y="9220200"/>
            <a:ext cx="17677634" cy="125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1776" i="true" spc="177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4 MOST OF THESE TOP-SELLING ITEMS SEEM TO HAVE RELATIVELY LOWER UNIT PRICES, WHICH COULD CONTRIBUTE TO THEIR HIGH SALES VOLUME.</a:t>
            </a:r>
          </a:p>
          <a:p>
            <a:pPr algn="ctr">
              <a:lnSpc>
                <a:spcPts val="2487"/>
              </a:lnSpc>
            </a:pPr>
          </a:p>
          <a:p>
            <a:pPr algn="ctr">
              <a:lnSpc>
                <a:spcPts val="248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4064" y="1279578"/>
            <a:ext cx="10117241" cy="5046313"/>
          </a:xfrm>
          <a:custGeom>
            <a:avLst/>
            <a:gdLst/>
            <a:ahLst/>
            <a:cxnLst/>
            <a:rect r="r" b="b" t="t" l="l"/>
            <a:pathLst>
              <a:path h="5046313" w="10117241">
                <a:moveTo>
                  <a:pt x="0" y="0"/>
                </a:moveTo>
                <a:lnTo>
                  <a:pt x="10117241" y="0"/>
                </a:lnTo>
                <a:lnTo>
                  <a:pt x="10117241" y="5046313"/>
                </a:lnTo>
                <a:lnTo>
                  <a:pt x="0" y="504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378" y="274116"/>
            <a:ext cx="9951151" cy="75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b="true" sz="5113" spc="25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TOP 10 LEAST SELLING ITEMS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3482" y="6391947"/>
            <a:ext cx="11648437" cy="73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b="true" sz="2095" i="true" spc="209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1 ALL ITEMS HAVE VERY FEW ORDERS, LIKELY INDICATING LOW DEMAND.</a:t>
            </a:r>
          </a:p>
          <a:p>
            <a:pPr algn="ctr">
              <a:lnSpc>
                <a:spcPts val="293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8378" y="7213862"/>
            <a:ext cx="16377884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i="true" spc="209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2 THE UNIT PRICE IS REPRESENTED USING DIFFERENT SHADES DARKER SHADES INDICATE HIGHER PRICES.</a:t>
            </a:r>
          </a:p>
          <a:p>
            <a:pPr algn="ctr">
              <a:lnSpc>
                <a:spcPts val="2939"/>
              </a:lnSpc>
            </a:pPr>
          </a:p>
          <a:p>
            <a:pPr algn="ctr">
              <a:lnSpc>
                <a:spcPts val="29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3482" y="8050598"/>
            <a:ext cx="14164148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i="true" spc="210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3 SOME OF THESE ITEMS MAY HAVE A HIGHER UNIT PRICE, POTENTIALLY AFFECTING SALES.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1639" y="8761725"/>
            <a:ext cx="16917661" cy="146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8"/>
              </a:lnSpc>
            </a:pPr>
            <a:r>
              <a:rPr lang="en-US" b="true" sz="1663" i="true" spc="166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4 CERTAIN FOOD ITEMS LIKE CAKES, TARTS, AND PREPARED PLATES APPEAR IN THE LEAST-SELLING LIST, WHICH MIGHT INDICATE CUSTOMER PREFERENCES SHIFTING AWAY FROM THESE.</a:t>
            </a:r>
          </a:p>
          <a:p>
            <a:pPr algn="ctr">
              <a:lnSpc>
                <a:spcPts val="2328"/>
              </a:lnSpc>
            </a:pPr>
          </a:p>
          <a:p>
            <a:pPr algn="ctr">
              <a:lnSpc>
                <a:spcPts val="2328"/>
              </a:lnSpc>
            </a:pPr>
          </a:p>
          <a:p>
            <a:pPr algn="ctr">
              <a:lnSpc>
                <a:spcPts val="232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7566" y="1161584"/>
            <a:ext cx="10157923" cy="5144638"/>
          </a:xfrm>
          <a:custGeom>
            <a:avLst/>
            <a:gdLst/>
            <a:ahLst/>
            <a:cxnLst/>
            <a:rect r="r" b="b" t="t" l="l"/>
            <a:pathLst>
              <a:path h="5144638" w="10157923">
                <a:moveTo>
                  <a:pt x="0" y="0"/>
                </a:moveTo>
                <a:lnTo>
                  <a:pt x="10157924" y="0"/>
                </a:lnTo>
                <a:lnTo>
                  <a:pt x="10157924" y="5144638"/>
                </a:lnTo>
                <a:lnTo>
                  <a:pt x="0" y="514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378" y="274116"/>
            <a:ext cx="9951151" cy="75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b="true" sz="5113" spc="25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SALES TREND BY WEEKDAY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6617609"/>
            <a:ext cx="11539173" cy="1108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b="true" sz="2095" i="true" spc="209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1  HIGHEST SALES : SUNDAY HAS THE HIGHEST NUMBER OF TRANSACTIONS.</a:t>
            </a:r>
          </a:p>
          <a:p>
            <a:pPr algn="ctr">
              <a:lnSpc>
                <a:spcPts val="2933"/>
              </a:lnSpc>
            </a:pPr>
          </a:p>
          <a:p>
            <a:pPr algn="ctr">
              <a:lnSpc>
                <a:spcPts val="293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8378" y="7348252"/>
            <a:ext cx="13271166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i="true" spc="209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2 STRONG SALES: SATURDAY, MONDAY, AND FRIDAY ALSO HAVE RELATIVELY HIGH SALES.</a:t>
            </a:r>
          </a:p>
          <a:p>
            <a:pPr algn="ctr">
              <a:lnSpc>
                <a:spcPts val="29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0" y="8037950"/>
            <a:ext cx="14528711" cy="148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i="true" spc="210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3 LOWER SALES : WEDNESDAY HAS THE LOWEST SALES, FOLLOWED BY TUESDAY AND THURSDAY.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8774649"/>
            <a:ext cx="18537037" cy="143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b="true" sz="2117" i="true" spc="211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4 HIGHEST AVERAGE UNIT PRICE : FRIDAY SHOWS A SIGNIFICANT SPIKE IN UNIT PRICE, WHILE SALES VOLUME IS MODERATE.</a:t>
            </a:r>
          </a:p>
          <a:p>
            <a:pPr algn="ctr">
              <a:lnSpc>
                <a:spcPts val="2124"/>
              </a:lnSpc>
            </a:pPr>
          </a:p>
          <a:p>
            <a:pPr algn="ctr">
              <a:lnSpc>
                <a:spcPts val="2124"/>
              </a:lnSpc>
            </a:pPr>
          </a:p>
          <a:p>
            <a:pPr algn="ctr">
              <a:lnSpc>
                <a:spcPts val="2124"/>
              </a:lnSpc>
            </a:pPr>
          </a:p>
          <a:p>
            <a:pPr algn="ctr">
              <a:lnSpc>
                <a:spcPts val="2124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7239" y="1181239"/>
            <a:ext cx="10424696" cy="5331455"/>
          </a:xfrm>
          <a:custGeom>
            <a:avLst/>
            <a:gdLst/>
            <a:ahLst/>
            <a:cxnLst/>
            <a:rect r="r" b="b" t="t" l="l"/>
            <a:pathLst>
              <a:path h="5331455" w="10424696">
                <a:moveTo>
                  <a:pt x="0" y="0"/>
                </a:moveTo>
                <a:lnTo>
                  <a:pt x="10424696" y="0"/>
                </a:lnTo>
                <a:lnTo>
                  <a:pt x="10424696" y="5331456"/>
                </a:lnTo>
                <a:lnTo>
                  <a:pt x="0" y="5331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378" y="274116"/>
            <a:ext cx="9951151" cy="75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b="true" sz="5113" spc="25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SALES TREND BY HOUR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6617470"/>
            <a:ext cx="11683383" cy="1480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3"/>
              </a:lnSpc>
            </a:pPr>
            <a:r>
              <a:rPr lang="en-US" b="true" sz="2095" i="true" spc="209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1   HIGHEST SALES : BETWEEN 10 AM AND 12 PM, WITH THE PEAK AT 12 PM.</a:t>
            </a:r>
          </a:p>
          <a:p>
            <a:pPr algn="ctr">
              <a:lnSpc>
                <a:spcPts val="2933"/>
              </a:lnSpc>
            </a:pPr>
          </a:p>
          <a:p>
            <a:pPr algn="ctr">
              <a:lnSpc>
                <a:spcPts val="2933"/>
              </a:lnSpc>
            </a:pPr>
          </a:p>
          <a:p>
            <a:pPr algn="ctr">
              <a:lnSpc>
                <a:spcPts val="293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7333894"/>
            <a:ext cx="10062600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 i="true" spc="209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2 MODERATE SALES: BETWEEN 8 AM TO 9 AM AND 3 PM TO 6 PM.</a:t>
            </a:r>
          </a:p>
          <a:p>
            <a:pPr algn="ctr">
              <a:lnSpc>
                <a:spcPts val="2939"/>
              </a:lnSpc>
            </a:pPr>
            <a:r>
              <a:rPr lang="en-US" b="true" sz="2099" i="true" spc="209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.</a:t>
            </a:r>
          </a:p>
          <a:p>
            <a:pPr algn="ctr">
              <a:lnSpc>
                <a:spcPts val="29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0" y="8050318"/>
            <a:ext cx="7995795" cy="185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 i="true" spc="210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3 LOWEST SALES : (AT 7 AM AND THEN 2 , 3 ,7 PM ) </a:t>
            </a: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  <a:p>
            <a:pPr algn="ctr">
              <a:lnSpc>
                <a:spcPts val="294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21034" y="8661978"/>
            <a:ext cx="18607676" cy="276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1783" i="true" spc="178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4 HIGHEST AVERAGE PRICE : AROUND 2 PM, BUT IT DOES NOT CORRELATE WITH HIGH SALES.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  <a:r>
              <a:rPr lang="en-US" b="true" sz="1783" i="true" spc="178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- STABLE PRICES: BETWEEN 8 AM AND 12 PM , WHICH ALIGNS WITH PEAK SALES.</a:t>
            </a:r>
          </a:p>
          <a:p>
            <a:pPr algn="l">
              <a:lnSpc>
                <a:spcPts val="2496"/>
              </a:lnSpc>
            </a:pPr>
          </a:p>
          <a:p>
            <a:pPr algn="l">
              <a:lnSpc>
                <a:spcPts val="2496"/>
              </a:lnSpc>
            </a:pPr>
            <a:r>
              <a:rPr lang="en-US" b="true" sz="1783" i="true" spc="178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- PRICE DROP IN LATE EVENING: THE LOWEST UNIT PRICE IS AFTER 8 PM, POTENTIALLY DUE TO DISCOUNTS OR CLEARANCE SALES.</a:t>
            </a:r>
          </a:p>
          <a:p>
            <a:pPr algn="ctr">
              <a:lnSpc>
                <a:spcPts val="2496"/>
              </a:lnSpc>
            </a:pPr>
          </a:p>
          <a:p>
            <a:pPr algn="ctr">
              <a:lnSpc>
                <a:spcPts val="1788"/>
              </a:lnSpc>
            </a:pPr>
          </a:p>
          <a:p>
            <a:pPr algn="ctr">
              <a:lnSpc>
                <a:spcPts val="1788"/>
              </a:lnSpc>
            </a:pPr>
          </a:p>
          <a:p>
            <a:pPr algn="ctr">
              <a:lnSpc>
                <a:spcPts val="1788"/>
              </a:lnSpc>
            </a:pPr>
          </a:p>
          <a:p>
            <a:pPr algn="ctr">
              <a:lnSpc>
                <a:spcPts val="1788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8378" y="1517026"/>
            <a:ext cx="14650478" cy="4378432"/>
          </a:xfrm>
          <a:custGeom>
            <a:avLst/>
            <a:gdLst/>
            <a:ahLst/>
            <a:cxnLst/>
            <a:rect r="r" b="b" t="t" l="l"/>
            <a:pathLst>
              <a:path h="4378432" w="14650478">
                <a:moveTo>
                  <a:pt x="0" y="0"/>
                </a:moveTo>
                <a:lnTo>
                  <a:pt x="14650479" y="0"/>
                </a:lnTo>
                <a:lnTo>
                  <a:pt x="14650479" y="4378432"/>
                </a:lnTo>
                <a:lnTo>
                  <a:pt x="0" y="4378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378" y="274116"/>
            <a:ext cx="9951151" cy="75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b="true" sz="5113" spc="25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SALES TREND BY MONTH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7839" y="6237243"/>
            <a:ext cx="8284244" cy="290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6"/>
              </a:lnSpc>
            </a:pPr>
            <a:r>
              <a:rPr lang="en-US" b="true" sz="1819" i="true" spc="181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1 HIGHEST SALES: AUGUST AND JULY HAD THE HIGHEST SALES COUNT.</a:t>
            </a:r>
          </a:p>
          <a:p>
            <a:pPr algn="ctr">
              <a:lnSpc>
                <a:spcPts val="2546"/>
              </a:lnSpc>
            </a:pPr>
            <a:r>
              <a:rPr lang="en-US" sz="1819" spc="181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en-US" b="true" sz="1819" i="true" spc="181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 Lowest Sales: January and February had the lowest sales.</a:t>
            </a:r>
          </a:p>
          <a:p>
            <a:pPr algn="ctr">
              <a:lnSpc>
                <a:spcPts val="2546"/>
              </a:lnSpc>
            </a:pPr>
            <a:r>
              <a:rPr lang="en-US" sz="1819" spc="181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</a:rPr>
              <a:t>  3 </a:t>
            </a:r>
            <a:r>
              <a:rPr lang="en-US" b="true" sz="1819" i="true" spc="181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Mid-Year Drop: Sales declined after July and remained lower for the rest of the year.</a:t>
            </a:r>
          </a:p>
          <a:p>
            <a:pPr algn="ctr">
              <a:lnSpc>
                <a:spcPts val="2546"/>
              </a:lnSpc>
            </a:pPr>
          </a:p>
          <a:p>
            <a:pPr algn="ctr">
              <a:lnSpc>
                <a:spcPts val="2546"/>
              </a:lnSpc>
            </a:pPr>
          </a:p>
          <a:p>
            <a:pPr algn="ctr">
              <a:lnSpc>
                <a:spcPts val="254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21034" y="8605504"/>
            <a:ext cx="16170550" cy="143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b="true" sz="2149" i="true" spc="214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- PRICE SURGE IN JANUARY: A SHARP INCREASE IN AVERAGE UNIT PRICE IN JANUARY.</a:t>
            </a:r>
          </a:p>
          <a:p>
            <a:pPr algn="l">
              <a:lnSpc>
                <a:spcPts val="3009"/>
              </a:lnSpc>
            </a:pPr>
            <a:r>
              <a:rPr lang="en-US" b="true" sz="2149" i="true" spc="214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- Lowest Prices in February: Prices dropped significantly right after the January peak.</a:t>
            </a:r>
          </a:p>
          <a:p>
            <a:pPr algn="l">
              <a:lnSpc>
                <a:spcPts val="3009"/>
              </a:lnSpc>
            </a:pPr>
            <a:r>
              <a:rPr lang="en-US" b="true" sz="2149" i="true" spc="214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- Gradual Increase Toward Year-End: Prices slightly increased from October to December.</a:t>
            </a:r>
          </a:p>
          <a:p>
            <a:pPr algn="ctr">
              <a:lnSpc>
                <a:spcPts val="2394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2154" y="868738"/>
            <a:ext cx="13931898" cy="6865539"/>
          </a:xfrm>
          <a:custGeom>
            <a:avLst/>
            <a:gdLst/>
            <a:ahLst/>
            <a:cxnLst/>
            <a:rect r="r" b="b" t="t" l="l"/>
            <a:pathLst>
              <a:path h="6865539" w="13931898">
                <a:moveTo>
                  <a:pt x="0" y="0"/>
                </a:moveTo>
                <a:lnTo>
                  <a:pt x="13931898" y="0"/>
                </a:lnTo>
                <a:lnTo>
                  <a:pt x="13931898" y="6865539"/>
                </a:lnTo>
                <a:lnTo>
                  <a:pt x="0" y="6865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14154"/>
            <a:ext cx="15593966" cy="75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b="true" sz="5113" spc="25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TOP 20 MOST REVENUE GENERATING ITEMS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1034" y="8595979"/>
            <a:ext cx="10670391" cy="817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b="true" sz="2310" i="true">
                <a:solidFill>
                  <a:srgbClr val="004AAD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BANETTE IS THE MOST REVENUE GENERATING PRODUCTS FOLLOWED BY OTHERS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81190">
            <a:off x="3807504" y="-705158"/>
            <a:ext cx="18288000" cy="1655287"/>
            <a:chOff x="0" y="0"/>
            <a:chExt cx="6671512" cy="603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71512" cy="603853"/>
            </a:xfrm>
            <a:custGeom>
              <a:avLst/>
              <a:gdLst/>
              <a:ahLst/>
              <a:cxnLst/>
              <a:rect r="r" b="b" t="t" l="l"/>
              <a:pathLst>
                <a:path h="603853" w="6671512">
                  <a:moveTo>
                    <a:pt x="0" y="0"/>
                  </a:moveTo>
                  <a:lnTo>
                    <a:pt x="6671512" y="0"/>
                  </a:lnTo>
                  <a:lnTo>
                    <a:pt x="6671512" y="603853"/>
                  </a:lnTo>
                  <a:lnTo>
                    <a:pt x="0" y="603853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4" id="4"/>
          <p:cNvGrpSpPr/>
          <p:nvPr/>
        </p:nvGrpSpPr>
        <p:grpSpPr>
          <a:xfrm rot="-284447">
            <a:off x="-3805812" y="-636028"/>
            <a:ext cx="18288000" cy="1655287"/>
            <a:chOff x="0" y="0"/>
            <a:chExt cx="6671512" cy="6038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71512" cy="603853"/>
            </a:xfrm>
            <a:custGeom>
              <a:avLst/>
              <a:gdLst/>
              <a:ahLst/>
              <a:cxnLst/>
              <a:rect r="r" b="b" t="t" l="l"/>
              <a:pathLst>
                <a:path h="603853" w="6671512">
                  <a:moveTo>
                    <a:pt x="0" y="0"/>
                  </a:moveTo>
                  <a:lnTo>
                    <a:pt x="6671512" y="0"/>
                  </a:lnTo>
                  <a:lnTo>
                    <a:pt x="6671512" y="603853"/>
                  </a:lnTo>
                  <a:lnTo>
                    <a:pt x="0" y="603853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0485" y="1484438"/>
            <a:ext cx="16388995" cy="86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5"/>
              </a:lnSpc>
            </a:pPr>
            <a:r>
              <a:rPr lang="en-US" b="true" sz="5900" spc="29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INSIGHTS AND RECOMMENDATIONS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12132" y="5489303"/>
            <a:ext cx="5047348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i="true" spc="300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Pick one of our services</a:t>
            </a:r>
          </a:p>
          <a:p>
            <a:pPr algn="ctr">
              <a:lnSpc>
                <a:spcPts val="3750"/>
              </a:lnSpc>
            </a:pPr>
            <a:r>
              <a:rPr lang="en-US" sz="3000" i="true" spc="300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Routine checks for six months</a:t>
            </a:r>
          </a:p>
          <a:p>
            <a:pPr algn="ctr">
              <a:lnSpc>
                <a:spcPts val="3750"/>
              </a:lnSpc>
            </a:pPr>
            <a:r>
              <a:rPr lang="en-US" sz="3000" i="true" spc="300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Service adjustment in the sixth month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1938" y="2873368"/>
            <a:ext cx="16697542" cy="6990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IN 2022 REVENUE IS LESS AS COMARED TO 2021 SO STARATIGIES ARE REQUIRED TO ENHANCE PERFROMACE OF BUSINESS</a:t>
            </a:r>
          </a:p>
          <a:p>
            <a:pPr algn="ctr">
              <a:lnSpc>
                <a:spcPts val="2660"/>
              </a:lnSpc>
            </a:pP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   BUNDLE &amp; UPSELL: INCREASE REVENUE BY BUNDLING POPULAR BAKERY STAPLES WITH HIGHER-MARGIN OR LESS POPULAR PRODUCTS (E.G., BREAD + PREMIUM SPREADS). </a:t>
            </a:r>
          </a:p>
          <a:p>
            <a:pPr algn="l">
              <a:lnSpc>
                <a:spcPts val="2660"/>
              </a:lnSpc>
            </a:pP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THERE IS NOT TOO STRONG BUT THERE IS SOME CORRELATION BETWEEN PRICE AND SALES SO PRICING ADJUSTMENT IS REQUIRED FOR THE ITEMS THAT ARE UNPOPULAR AND SELLING LESS .</a:t>
            </a:r>
          </a:p>
          <a:p>
            <a:pPr algn="l">
              <a:lnSpc>
                <a:spcPts val="2660"/>
              </a:lnSpc>
            </a:pP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WEEKEND DEMAND: HIGH SALES ON SATURDAY AND SUNDAY SUGGEST THESE ARE PEAK SHOPPING DAYS. CONSIDER PROMOTIONS OR BUNDLING DEALS TO MAXIMIZE REVENUE.</a:t>
            </a:r>
          </a:p>
          <a:p>
            <a:pPr algn="l">
              <a:lnSpc>
                <a:spcPts val="2660"/>
              </a:lnSpc>
            </a:pP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FRIDAY PRICE SURGE: THE PRICE SPIKE ON FRIDAY COULD MEAN: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 PREMIUM-PRICED ITEMS ARE SOLD MORE.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 PRICE HIKES BEFORE THE WEEKEND WHEN DEMAND IS EXPECTED TO INCREASE.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 FEWER DISCOUNTS OR PROMOTIONAL OFFERS.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 MIDWEEK SALES STRATEGY: SINCE WEDNESDAY AND THURSDAY HAVE LOWER SALES, CONSIDER INTRODUCING MIDWEEK PROMOTIONS TO BOOST REVENUE.</a:t>
            </a:r>
          </a:p>
          <a:p>
            <a:pPr algn="l">
              <a:lnSpc>
                <a:spcPts val="2660"/>
              </a:lnSpc>
            </a:pPr>
          </a:p>
          <a:p>
            <a:pPr algn="l">
              <a:lnSpc>
                <a:spcPts val="2660"/>
              </a:lnSpc>
            </a:pPr>
          </a:p>
          <a:p>
            <a:pPr algn="l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381190">
            <a:off x="3807504" y="-705158"/>
            <a:ext cx="18288000" cy="1655287"/>
            <a:chOff x="0" y="0"/>
            <a:chExt cx="6671512" cy="6038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71512" cy="603853"/>
            </a:xfrm>
            <a:custGeom>
              <a:avLst/>
              <a:gdLst/>
              <a:ahLst/>
              <a:cxnLst/>
              <a:rect r="r" b="b" t="t" l="l"/>
              <a:pathLst>
                <a:path h="603853" w="6671512">
                  <a:moveTo>
                    <a:pt x="0" y="0"/>
                  </a:moveTo>
                  <a:lnTo>
                    <a:pt x="6671512" y="0"/>
                  </a:lnTo>
                  <a:lnTo>
                    <a:pt x="6671512" y="603853"/>
                  </a:lnTo>
                  <a:lnTo>
                    <a:pt x="0" y="603853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4" id="4"/>
          <p:cNvGrpSpPr/>
          <p:nvPr/>
        </p:nvGrpSpPr>
        <p:grpSpPr>
          <a:xfrm rot="-284447">
            <a:off x="-3805812" y="-636028"/>
            <a:ext cx="18288000" cy="1655287"/>
            <a:chOff x="0" y="0"/>
            <a:chExt cx="6671512" cy="6038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71512" cy="603853"/>
            </a:xfrm>
            <a:custGeom>
              <a:avLst/>
              <a:gdLst/>
              <a:ahLst/>
              <a:cxnLst/>
              <a:rect r="r" b="b" t="t" l="l"/>
              <a:pathLst>
                <a:path h="603853" w="6671512">
                  <a:moveTo>
                    <a:pt x="0" y="0"/>
                  </a:moveTo>
                  <a:lnTo>
                    <a:pt x="6671512" y="0"/>
                  </a:lnTo>
                  <a:lnTo>
                    <a:pt x="6671512" y="603853"/>
                  </a:lnTo>
                  <a:lnTo>
                    <a:pt x="0" y="603853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0485" y="1484438"/>
            <a:ext cx="16388995" cy="86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5"/>
              </a:lnSpc>
            </a:pPr>
            <a:r>
              <a:rPr lang="en-US" b="true" sz="5900" spc="295">
                <a:solidFill>
                  <a:srgbClr val="2B4A9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INSIGHTS AND RECOMMENDATIONS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12132" y="5489303"/>
            <a:ext cx="5047348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000" i="true" spc="300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Pick one of our services</a:t>
            </a:r>
          </a:p>
          <a:p>
            <a:pPr algn="ctr">
              <a:lnSpc>
                <a:spcPts val="3750"/>
              </a:lnSpc>
            </a:pPr>
            <a:r>
              <a:rPr lang="en-US" sz="3000" i="true" spc="300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Routine checks for six months</a:t>
            </a:r>
          </a:p>
          <a:p>
            <a:pPr algn="ctr">
              <a:lnSpc>
                <a:spcPts val="3750"/>
              </a:lnSpc>
            </a:pPr>
            <a:r>
              <a:rPr lang="en-US" sz="3000" i="true" spc="300">
                <a:solidFill>
                  <a:srgbClr val="FFFFFF"/>
                </a:solidFill>
                <a:latin typeface="Lato Italics"/>
                <a:ea typeface="Lato Italics"/>
                <a:cs typeface="Lato Italics"/>
                <a:sym typeface="Lato Italics"/>
              </a:rPr>
              <a:t>Service adjustment in the sixth month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1938" y="2873368"/>
            <a:ext cx="16697542" cy="732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OPTIMAL PRICING STRATEGY: PRICES ARE HIGH AROUND 2 PM, BUT SALES ARE LOW. CONSIDER ADJUSTING PRICING TO BOOST SALES IN THE AFTERNOON.</a:t>
            </a:r>
          </a:p>
          <a:p>
            <a:pPr algn="ctr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Promotion Opportunities: If the 10 AM - 12 PM slot is the busiest, offering bundle deals or upselling could maximize revenue.</a:t>
            </a:r>
          </a:p>
          <a:p>
            <a:pPr algn="ctr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Evening Discount Strategy: If prices drop at night, this could indicate end-of-day promotions or lower demand.</a:t>
            </a:r>
          </a:p>
          <a:p>
            <a:pPr algn="ctr">
              <a:lnSpc>
                <a:spcPts val="2660"/>
              </a:lnSpc>
            </a:pP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   SEASONALITY : SALES PEAK IN MID-YEAR (AUGUST, JULY), POSSIBLY DUE TO SEASONAL DEMAND.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PRICE ELASTICITY : HIGHER PRICES IN JANUARY DIDN'T LEAD TO HIGHER SALES. 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 → SUGGESTS DEMAND IS PRICE-SENSITIVE.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END-OF-YEAR STRATEGY: IF HIGHER PRICES WORK IN JANUARY BUT NOT IN OTHER MONTHS, CONSIDER PROMOTIONS OR PRICE ADJUSTMENTS.</a:t>
            </a:r>
          </a:p>
          <a:p>
            <a:pPr algn="l">
              <a:lnSpc>
                <a:spcPts val="2660"/>
              </a:lnSpc>
            </a:pP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DEMAND FOCUS: BANETTE AND BAGUETTE DOMINATE SALES—ENSURE CONSISTENT STOCK AND EXPLORE PREMIUM VARIANTS.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UPSELLING: BUNDLE HIGH-SELLING ITEMS WITH LOWER-PERFORMING PRODUCTS (E.G., SPREADS, COFFEE).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PRICING STRATEGY: SLIGHTLY ADJUST PRICES OR INTRODUCE PREMIUM VERSIONS TO BOOST MARGINS.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SUPPLY CHAIN: OPTIMIZE INVENTORY TO PREVENT STOCKOUTS AND ALIGN WITH DEMAND TRENDS.</a:t>
            </a:r>
          </a:p>
          <a:p>
            <a:pPr algn="l" marL="410219" indent="-205110" lvl="1">
              <a:lnSpc>
                <a:spcPts val="2660"/>
              </a:lnSpc>
              <a:buFont typeface="Arial"/>
              <a:buChar char="•"/>
            </a:pPr>
            <a:r>
              <a:rPr lang="en-US" b="true" sz="1900" spc="190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LET ME KNOW IF YOU NEED REFINEMENTS!</a:t>
            </a:r>
          </a:p>
          <a:p>
            <a:pPr algn="l">
              <a:lnSpc>
                <a:spcPts val="2660"/>
              </a:lnSpc>
            </a:pPr>
          </a:p>
          <a:p>
            <a:pPr algn="l">
              <a:lnSpc>
                <a:spcPts val="2660"/>
              </a:lnSpc>
            </a:pPr>
          </a:p>
          <a:p>
            <a:pPr algn="l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6816" y="0"/>
            <a:ext cx="452408" cy="10287000"/>
            <a:chOff x="0" y="0"/>
            <a:chExt cx="165040" cy="3752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040" cy="3752726"/>
            </a:xfrm>
            <a:custGeom>
              <a:avLst/>
              <a:gdLst/>
              <a:ahLst/>
              <a:cxnLst/>
              <a:rect r="r" b="b" t="t" l="l"/>
              <a:pathLst>
                <a:path h="3752726" w="165040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4" id="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3310" cy="11492046"/>
            </a:xfrm>
            <a:custGeom>
              <a:avLst/>
              <a:gdLst/>
              <a:ahLst/>
              <a:cxnLst/>
              <a:rect r="r" b="b" t="t" l="l"/>
              <a:pathLst>
                <a:path h="11492046" w="2353310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123218" y="878380"/>
            <a:ext cx="7020782" cy="89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6000" spc="30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THANK YOU</a:t>
            </a:r>
          </a:p>
        </p:txBody>
      </p:sp>
      <p:grpSp>
        <p:nvGrpSpPr>
          <p:cNvPr name="Group 15" id="15"/>
          <p:cNvGrpSpPr/>
          <p:nvPr/>
        </p:nvGrpSpPr>
        <p:grpSpPr>
          <a:xfrm rot="-5400000">
            <a:off x="568482" y="3884156"/>
            <a:ext cx="829509" cy="1966473"/>
            <a:chOff x="0" y="0"/>
            <a:chExt cx="2354580" cy="55818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53310" cy="5581882"/>
            </a:xfrm>
            <a:custGeom>
              <a:avLst/>
              <a:gdLst/>
              <a:ahLst/>
              <a:cxnLst/>
              <a:rect r="r" b="b" t="t" l="l"/>
              <a:pathLst>
                <a:path h="5581882" w="2353310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428018" y="4572167"/>
            <a:ext cx="7343333" cy="52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300" b="true">
                <a:solidFill>
                  <a:srgbClr val="2B4A9D"/>
                </a:solidFill>
                <a:latin typeface="Lato Bold"/>
                <a:ea typeface="Lato Bold"/>
                <a:cs typeface="Lato Bold"/>
                <a:sym typeface="Lato Bold"/>
              </a:rPr>
              <a:t>ilyasamish@gmail.com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13551" y="4721674"/>
            <a:ext cx="378937" cy="291437"/>
          </a:xfrm>
          <a:custGeom>
            <a:avLst/>
            <a:gdLst/>
            <a:ahLst/>
            <a:cxnLst/>
            <a:rect r="r" b="b" t="t" l="l"/>
            <a:pathLst>
              <a:path h="291437" w="378937">
                <a:moveTo>
                  <a:pt x="0" y="0"/>
                </a:moveTo>
                <a:lnTo>
                  <a:pt x="378937" y="0"/>
                </a:lnTo>
                <a:lnTo>
                  <a:pt x="378937" y="291437"/>
                </a:lnTo>
                <a:lnTo>
                  <a:pt x="0" y="291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DAGfwOWPUq8</dc:identifier>
  <dcterms:modified xsi:type="dcterms:W3CDTF">2011-08-01T06:04:30Z</dcterms:modified>
  <cp:revision>1</cp:revision>
  <dc:title>Elegant and Professional Company Business Proposal Presentation</dc:title>
</cp:coreProperties>
</file>