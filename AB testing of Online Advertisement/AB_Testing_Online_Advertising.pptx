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4"/>
  </p:sldMasterIdLst>
  <p:notesMasterIdLst>
    <p:notesMasterId r:id="rId13"/>
  </p:notesMasterIdLst>
  <p:handoutMasterIdLst>
    <p:handoutMasterId r:id="rId14"/>
  </p:handoutMasterIdLst>
  <p:sldIdLst>
    <p:sldId id="256" r:id="rId5"/>
    <p:sldId id="258" r:id="rId6"/>
    <p:sldId id="269" r:id="rId7"/>
    <p:sldId id="271" r:id="rId8"/>
    <p:sldId id="272" r:id="rId9"/>
    <p:sldId id="273" r:id="rId10"/>
    <p:sldId id="274" r:id="rId11"/>
    <p:sldId id="275" r:id="rId12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3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492" autoAdjust="0"/>
  </p:normalViewPr>
  <p:slideViewPr>
    <p:cSldViewPr>
      <p:cViewPr varScale="1">
        <p:scale>
          <a:sx n="111" d="100"/>
          <a:sy n="111" d="100"/>
        </p:scale>
        <p:origin x="594" y="96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3134" y="77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5E03B7-B591-4A2A-B695-014C5A39F13E}" type="datetimeFigureOut">
              <a:rPr lang="en-US"/>
              <a:t>4/18/2025</a:t>
            </a:fld>
            <a:endParaRPr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E322BB-75AD-4A1E-9661-2724167329F0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127057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DFBD7B-E4FB-4AA8-9540-FD148073ACB3}" type="datetimeFigureOut">
              <a:rPr lang="en-US"/>
              <a:t>4/18/2025</a:t>
            </a:fld>
            <a:endParaRPr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45B7DE-1198-4F2F-B574-CA8CAE341642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823124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45B7DE-1198-4F2F-B574-CA8CAE341642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56523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45B7DE-1198-4F2F-B574-CA8CAE341642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4724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45B7DE-1198-4F2F-B574-CA8CAE341642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1066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45B7DE-1198-4F2F-B574-CA8CAE341642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98529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1BB8B4-6314-88BC-A1E4-A315CEFA2A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13F665-9B49-D1D9-468B-2606563545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B835AB-1D6E-115B-2AFF-58A6ABC155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929245-6AB7-70B3-F460-2F2FBE0241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45B7DE-1198-4F2F-B574-CA8CAE341642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88877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36AF61-0A10-738D-9DC3-726D9A654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57035D-4A60-B6F6-6FCF-2C3352E220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F920A4-5E7C-6FB8-8F62-249184F65D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5C49D9-349E-ACF4-16BE-53E41B9E9D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45B7DE-1198-4F2F-B574-CA8CAE341642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58545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1AB3EE-ABF9-9D6B-4E3F-F9C831110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CEDEAE-453D-BBFD-43D0-57E4A58D72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DF3428-DDC7-19F6-C67E-B7C497AF01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960A36-0463-C8E9-0178-DE288CF806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45B7DE-1198-4F2F-B574-CA8CAE341642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59677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B0604B-1E08-6272-706C-95C0C2888F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DBFAF4-0EF8-349D-84FD-3DF4092444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49CC79-3C23-6123-D907-C72D3FDDF5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274D4B-2E5C-28AC-B019-0D3D0E0468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45B7DE-1198-4F2F-B574-CA8CAE341642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83721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squares"/>
          <p:cNvGrpSpPr/>
          <p:nvPr/>
        </p:nvGrpSpPr>
        <p:grpSpPr>
          <a:xfrm>
            <a:off x="0" y="1135743"/>
            <a:ext cx="1622332" cy="799981"/>
            <a:chOff x="0" y="452558"/>
            <a:chExt cx="914400" cy="524182"/>
          </a:xfrm>
        </p:grpSpPr>
        <p:sp>
          <p:nvSpPr>
            <p:cNvPr id="8" name="Rounded Rectangle 7"/>
            <p:cNvSpPr/>
            <p:nvPr/>
          </p:nvSpPr>
          <p:spPr>
            <a:xfrm>
              <a:off x="591671" y="452558"/>
              <a:ext cx="322729" cy="524180"/>
            </a:xfrm>
            <a:prstGeom prst="round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215154" y="452558"/>
              <a:ext cx="322729" cy="524180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10" name="Round Same Side Corner Rectangle 9"/>
            <p:cNvSpPr/>
            <p:nvPr/>
          </p:nvSpPr>
          <p:spPr>
            <a:xfrm rot="5400000">
              <a:off x="-181408" y="633966"/>
              <a:ext cx="524182" cy="161366"/>
            </a:xfrm>
            <a:prstGeom prst="round2SameRect">
              <a:avLst>
                <a:gd name="adj1" fmla="val 29167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28324" y="362396"/>
            <a:ext cx="9141619" cy="167640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60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324" y="2089595"/>
            <a:ext cx="9141619" cy="886344"/>
          </a:xfrm>
        </p:spPr>
        <p:txBody>
          <a:bodyPr>
            <a:normAutofit/>
          </a:bodyPr>
          <a:lstStyle>
            <a:lvl1pPr marL="0" indent="0" algn="l">
              <a:buNone/>
              <a:defRPr sz="2800">
                <a:solidFill>
                  <a:schemeClr val="accent1">
                    <a:lumMod val="75000"/>
                  </a:schemeClr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09051-6E81-43E8-9099-FF6A0C3DCFE8}" type="datetime1">
              <a:rPr lang="en-US"/>
              <a:t>4/18/2025</a:t>
            </a:fld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9D79-8A4B-4031-B1E0-AF26F8EDF2BC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87510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3EA6D-DF0B-4D4B-B359-5F1D1D0E30A4}" type="datetime1">
              <a:rPr lang="en-US"/>
              <a:t>4/18/2025</a:t>
            </a:fld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9D79-8A4B-4031-B1E0-AF26F8EDF2BC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35150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152400"/>
            <a:ext cx="975106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1600200"/>
            <a:ext cx="4875530" cy="45720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4412" y="1600200"/>
            <a:ext cx="4875530" cy="45720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7C2A3-CD19-48AB-9F64-ECCF75182EDD}" type="datetime1">
              <a:rPr lang="en-US"/>
              <a:t>4/18/2025</a:t>
            </a:fld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9D79-8A4B-4031-B1E0-AF26F8EDF2BC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97796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squares"/>
          <p:cNvGrpSpPr/>
          <p:nvPr/>
        </p:nvGrpSpPr>
        <p:grpSpPr>
          <a:xfrm>
            <a:off x="0" y="3124415"/>
            <a:ext cx="1622332" cy="805061"/>
            <a:chOff x="0" y="2343311"/>
            <a:chExt cx="1217066" cy="603796"/>
          </a:xfrm>
        </p:grpSpPr>
        <p:sp>
          <p:nvSpPr>
            <p:cNvPr id="8" name="Rounded Rectangle 7"/>
            <p:cNvSpPr/>
            <p:nvPr/>
          </p:nvSpPr>
          <p:spPr>
            <a:xfrm>
              <a:off x="787514" y="2347123"/>
              <a:ext cx="429552" cy="599984"/>
            </a:xfrm>
            <a:prstGeom prst="round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286370" y="2347123"/>
              <a:ext cx="429552" cy="599984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10" name="Round Same Side Corner Rectangle 9"/>
            <p:cNvSpPr/>
            <p:nvPr/>
          </p:nvSpPr>
          <p:spPr>
            <a:xfrm rot="5400000">
              <a:off x="-192604" y="2535915"/>
              <a:ext cx="599986" cy="214778"/>
            </a:xfrm>
            <a:prstGeom prst="round2SameRect">
              <a:avLst>
                <a:gd name="adj1" fmla="val 29167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</p:grpSp>
      <p:grpSp>
        <p:nvGrpSpPr>
          <p:cNvPr id="19" name="bottom graphic"/>
          <p:cNvGrpSpPr/>
          <p:nvPr/>
        </p:nvGrpSpPr>
        <p:grpSpPr>
          <a:xfrm>
            <a:off x="0" y="5409216"/>
            <a:ext cx="12188825" cy="1462483"/>
            <a:chOff x="0" y="4056912"/>
            <a:chExt cx="9144000" cy="1096862"/>
          </a:xfrm>
        </p:grpSpPr>
        <p:sp>
          <p:nvSpPr>
            <p:cNvPr id="20" name="Freeform 19"/>
            <p:cNvSpPr/>
            <p:nvPr/>
          </p:nvSpPr>
          <p:spPr bwMode="ltGray">
            <a:xfrm rot="5400000">
              <a:off x="4119794" y="119293"/>
              <a:ext cx="904412" cy="9144000"/>
            </a:xfrm>
            <a:custGeom>
              <a:avLst/>
              <a:gdLst/>
              <a:ahLst/>
              <a:cxnLst/>
              <a:rect l="l" t="t" r="r" b="b"/>
              <a:pathLst>
                <a:path w="904412" h="9144000">
                  <a:moveTo>
                    <a:pt x="0" y="0"/>
                  </a:moveTo>
                  <a:lnTo>
                    <a:pt x="904412" y="0"/>
                  </a:lnTo>
                  <a:lnTo>
                    <a:pt x="904412" y="9144000"/>
                  </a:lnTo>
                  <a:lnTo>
                    <a:pt x="391235" y="9144000"/>
                  </a:lnTo>
                  <a:cubicBezTo>
                    <a:pt x="445385" y="6730684"/>
                    <a:pt x="250230" y="1995757"/>
                    <a:pt x="0" y="0"/>
                  </a:cubicBezTo>
                  <a:close/>
                </a:path>
              </a:pathLst>
            </a:custGeom>
            <a:solidFill>
              <a:schemeClr val="tx1">
                <a:alpha val="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21" name="Rectangle 72"/>
            <p:cNvSpPr/>
            <p:nvPr/>
          </p:nvSpPr>
          <p:spPr bwMode="ltGray">
            <a:xfrm rot="5400000">
              <a:off x="4023569" y="33343"/>
              <a:ext cx="1096862" cy="9144000"/>
            </a:xfrm>
            <a:custGeom>
              <a:avLst/>
              <a:gdLst/>
              <a:ahLst/>
              <a:cxnLst/>
              <a:rect l="l" t="t" r="r" b="b"/>
              <a:pathLst>
                <a:path w="1096862" h="9144000">
                  <a:moveTo>
                    <a:pt x="1096861" y="9136375"/>
                  </a:moveTo>
                  <a:lnTo>
                    <a:pt x="1096861" y="0"/>
                  </a:lnTo>
                  <a:lnTo>
                    <a:pt x="1096862" y="0"/>
                  </a:lnTo>
                  <a:lnTo>
                    <a:pt x="1096862" y="9136375"/>
                  </a:lnTo>
                  <a:close/>
                  <a:moveTo>
                    <a:pt x="0" y="0"/>
                  </a:moveTo>
                  <a:lnTo>
                    <a:pt x="142171" y="0"/>
                  </a:lnTo>
                  <a:cubicBezTo>
                    <a:pt x="214017" y="532804"/>
                    <a:pt x="281641" y="1260834"/>
                    <a:pt x="340913" y="2087809"/>
                  </a:cubicBezTo>
                  <a:cubicBezTo>
                    <a:pt x="492781" y="4358443"/>
                    <a:pt x="587048" y="7374964"/>
                    <a:pt x="547354" y="9144000"/>
                  </a:cubicBezTo>
                  <a:lnTo>
                    <a:pt x="452132" y="9144000"/>
                  </a:lnTo>
                  <a:cubicBezTo>
                    <a:pt x="484963" y="4670358"/>
                    <a:pt x="240277" y="2482661"/>
                    <a:pt x="0" y="0"/>
                  </a:cubicBezTo>
                  <a:close/>
                </a:path>
              </a:pathLst>
            </a:custGeom>
            <a:solidFill>
              <a:schemeClr val="tx1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324" y="1932518"/>
            <a:ext cx="9141619" cy="2105367"/>
          </a:xfrm>
        </p:spPr>
        <p:txBody>
          <a:bodyPr anchor="b">
            <a:normAutofit/>
          </a:bodyPr>
          <a:lstStyle>
            <a:lvl1pPr algn="l">
              <a:defRPr sz="60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28324" y="4084264"/>
            <a:ext cx="9141619" cy="933297"/>
          </a:xfrm>
        </p:spPr>
        <p:txBody>
          <a:bodyPr anchor="t">
            <a:normAutofit/>
          </a:bodyPr>
          <a:lstStyle>
            <a:lvl1pPr marL="0" indent="0">
              <a:buNone/>
              <a:defRPr sz="2800">
                <a:solidFill>
                  <a:schemeClr val="accent1">
                    <a:lumMod val="75000"/>
                  </a:schemeClr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7EDB99-15BC-4479-BAC5-1E502E66917A}" type="datetime1">
              <a:rPr lang="en-US"/>
              <a:t>4/18/2025</a:t>
            </a:fld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9D79-8A4B-4031-B1E0-AF26F8EDF2BC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35693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152400"/>
            <a:ext cx="9751060" cy="12954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1524000"/>
            <a:ext cx="4875530" cy="816429"/>
          </a:xfrm>
        </p:spPr>
        <p:txBody>
          <a:bodyPr anchor="ctr">
            <a:norm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2413000"/>
            <a:ext cx="4875530" cy="3759199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4412" y="1524000"/>
            <a:ext cx="4875530" cy="816429"/>
          </a:xfrm>
        </p:spPr>
        <p:txBody>
          <a:bodyPr anchor="ctr">
            <a:norm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94412" y="2413000"/>
            <a:ext cx="4875530" cy="3759199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3E8C1-7C87-4705-AB97-8CD17D208E3F}" type="datetime1">
              <a:rPr lang="en-US"/>
              <a:t>4/18/2025</a:t>
            </a:fld>
            <a:endParaRPr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9D79-8A4B-4031-B1E0-AF26F8EDF2BC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87039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C624E-DF92-4841-B9B9-DD11AA239B85}" type="datetime1">
              <a:rPr lang="en-US"/>
              <a:t>4/18/2025</a:t>
            </a:fld>
            <a:endParaRPr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9D79-8A4B-4031-B1E0-AF26F8EDF2BC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6903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bottom graphic"/>
          <p:cNvGrpSpPr/>
          <p:nvPr/>
        </p:nvGrpSpPr>
        <p:grpSpPr>
          <a:xfrm>
            <a:off x="0" y="5409216"/>
            <a:ext cx="12188825" cy="1462483"/>
            <a:chOff x="0" y="4056912"/>
            <a:chExt cx="9144000" cy="1096862"/>
          </a:xfrm>
        </p:grpSpPr>
        <p:sp>
          <p:nvSpPr>
            <p:cNvPr id="9" name="Freeform 8"/>
            <p:cNvSpPr/>
            <p:nvPr/>
          </p:nvSpPr>
          <p:spPr bwMode="ltGray">
            <a:xfrm rot="5400000">
              <a:off x="4119794" y="119293"/>
              <a:ext cx="904412" cy="9144000"/>
            </a:xfrm>
            <a:custGeom>
              <a:avLst/>
              <a:gdLst/>
              <a:ahLst/>
              <a:cxnLst/>
              <a:rect l="l" t="t" r="r" b="b"/>
              <a:pathLst>
                <a:path w="904412" h="9144000">
                  <a:moveTo>
                    <a:pt x="0" y="0"/>
                  </a:moveTo>
                  <a:lnTo>
                    <a:pt x="904412" y="0"/>
                  </a:lnTo>
                  <a:lnTo>
                    <a:pt x="904412" y="9144000"/>
                  </a:lnTo>
                  <a:lnTo>
                    <a:pt x="391235" y="9144000"/>
                  </a:lnTo>
                  <a:cubicBezTo>
                    <a:pt x="445385" y="6730684"/>
                    <a:pt x="250230" y="1995757"/>
                    <a:pt x="0" y="0"/>
                  </a:cubicBezTo>
                  <a:close/>
                </a:path>
              </a:pathLst>
            </a:custGeom>
            <a:solidFill>
              <a:schemeClr val="tx1">
                <a:alpha val="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10" name="Rectangle 72"/>
            <p:cNvSpPr/>
            <p:nvPr/>
          </p:nvSpPr>
          <p:spPr bwMode="ltGray">
            <a:xfrm rot="5400000">
              <a:off x="4023569" y="33343"/>
              <a:ext cx="1096862" cy="9144000"/>
            </a:xfrm>
            <a:custGeom>
              <a:avLst/>
              <a:gdLst/>
              <a:ahLst/>
              <a:cxnLst/>
              <a:rect l="l" t="t" r="r" b="b"/>
              <a:pathLst>
                <a:path w="1096862" h="9144000">
                  <a:moveTo>
                    <a:pt x="1096861" y="9136375"/>
                  </a:moveTo>
                  <a:lnTo>
                    <a:pt x="1096861" y="0"/>
                  </a:lnTo>
                  <a:lnTo>
                    <a:pt x="1096862" y="0"/>
                  </a:lnTo>
                  <a:lnTo>
                    <a:pt x="1096862" y="9136375"/>
                  </a:lnTo>
                  <a:close/>
                  <a:moveTo>
                    <a:pt x="0" y="0"/>
                  </a:moveTo>
                  <a:lnTo>
                    <a:pt x="142171" y="0"/>
                  </a:lnTo>
                  <a:cubicBezTo>
                    <a:pt x="214017" y="532804"/>
                    <a:pt x="281641" y="1260834"/>
                    <a:pt x="340913" y="2087809"/>
                  </a:cubicBezTo>
                  <a:cubicBezTo>
                    <a:pt x="492781" y="4358443"/>
                    <a:pt x="587048" y="7374964"/>
                    <a:pt x="547354" y="9144000"/>
                  </a:cubicBezTo>
                  <a:lnTo>
                    <a:pt x="452132" y="9144000"/>
                  </a:lnTo>
                  <a:cubicBezTo>
                    <a:pt x="484963" y="4670358"/>
                    <a:pt x="240277" y="2482661"/>
                    <a:pt x="0" y="0"/>
                  </a:cubicBezTo>
                  <a:close/>
                </a:path>
              </a:pathLst>
            </a:custGeom>
            <a:solidFill>
              <a:schemeClr val="tx1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dirty="0"/>
            </a:p>
          </p:txBody>
        </p:sp>
      </p:grp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A3AE1-4360-4D5B-BDBC-656B872DD533}" type="datetime1">
              <a:rPr lang="en-US"/>
              <a:t>4/18/2025</a:t>
            </a:fld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9D79-8A4B-4031-B1E0-AF26F8EDF2BC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25395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5530" y="1600200"/>
            <a:ext cx="6094413" cy="45720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3" y="1600202"/>
            <a:ext cx="3453500" cy="4571999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accent1">
                    <a:lumMod val="75000"/>
                  </a:schemeClr>
                </a:solidFill>
              </a:defRPr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90708-46A4-4851-883E-8DFB8939107E}" type="datetime1">
              <a:rPr lang="en-US"/>
              <a:t>4/18/2025</a:t>
            </a:fld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9D79-8A4B-4031-B1E0-AF26F8EDF2BC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83960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1218887" y="1600200"/>
            <a:ext cx="6703850" cy="3657600"/>
          </a:xfrm>
          <a:prstGeom prst="roundRect">
            <a:avLst>
              <a:gd name="adj" fmla="val 3098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27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r>
              <a:rPr lang="en-US"/>
              <a:t>Click icon to add picture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25883" y="1600200"/>
            <a:ext cx="2844059" cy="3759200"/>
          </a:xfrm>
        </p:spPr>
        <p:txBody>
          <a:bodyPr anchor="b">
            <a:normAutofit/>
          </a:bodyPr>
          <a:lstStyle>
            <a:lvl1pPr marL="0" indent="0">
              <a:buNone/>
              <a:defRPr sz="2800">
                <a:solidFill>
                  <a:schemeClr val="accent1">
                    <a:lumMod val="75000"/>
                  </a:schemeClr>
                </a:solidFill>
              </a:defRPr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8EFFC-86AE-4294-A319-CAFC2651994B}" type="datetime1">
              <a:rPr lang="en-US"/>
              <a:t>4/18/2025</a:t>
            </a:fld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9D79-8A4B-4031-B1E0-AF26F8EDF2BC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42985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EAB04-7709-4C1E-A61A-74684A0170FC}" type="datetime1">
              <a:rPr lang="en-US"/>
              <a:t>4/18/2025</a:t>
            </a:fld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9D79-8A4B-4031-B1E0-AF26F8EDF2BC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40825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squares"/>
          <p:cNvGrpSpPr/>
          <p:nvPr/>
        </p:nvGrpSpPr>
        <p:grpSpPr>
          <a:xfrm rot="5400000">
            <a:off x="9583007" y="233864"/>
            <a:ext cx="1063300" cy="524046"/>
            <a:chOff x="0" y="452558"/>
            <a:chExt cx="914400" cy="524182"/>
          </a:xfrm>
        </p:grpSpPr>
        <p:sp>
          <p:nvSpPr>
            <p:cNvPr id="8" name="Rounded Rectangle 7"/>
            <p:cNvSpPr/>
            <p:nvPr/>
          </p:nvSpPr>
          <p:spPr>
            <a:xfrm>
              <a:off x="591671" y="452558"/>
              <a:ext cx="322729" cy="524180"/>
            </a:xfrm>
            <a:prstGeom prst="round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215154" y="452558"/>
              <a:ext cx="322729" cy="524180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10" name="Round Same Side Corner Rectangle 9"/>
            <p:cNvSpPr/>
            <p:nvPr/>
          </p:nvSpPr>
          <p:spPr>
            <a:xfrm rot="5400000">
              <a:off x="-181408" y="633966"/>
              <a:ext cx="524182" cy="161366"/>
            </a:xfrm>
            <a:prstGeom prst="round2SameRect">
              <a:avLst>
                <a:gd name="adj1" fmla="val 29167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</p:grpSp>
      <p:grpSp>
        <p:nvGrpSpPr>
          <p:cNvPr id="15" name="bottom graphic"/>
          <p:cNvGrpSpPr/>
          <p:nvPr/>
        </p:nvGrpSpPr>
        <p:grpSpPr>
          <a:xfrm>
            <a:off x="0" y="5395517"/>
            <a:ext cx="12188825" cy="1462483"/>
            <a:chOff x="0" y="4046638"/>
            <a:chExt cx="9144000" cy="1096862"/>
          </a:xfrm>
        </p:grpSpPr>
        <p:sp>
          <p:nvSpPr>
            <p:cNvPr id="16" name="Freeform 15"/>
            <p:cNvSpPr/>
            <p:nvPr/>
          </p:nvSpPr>
          <p:spPr bwMode="ltGray">
            <a:xfrm rot="5400000">
              <a:off x="4119794" y="119293"/>
              <a:ext cx="904412" cy="9144000"/>
            </a:xfrm>
            <a:custGeom>
              <a:avLst/>
              <a:gdLst/>
              <a:ahLst/>
              <a:cxnLst/>
              <a:rect l="l" t="t" r="r" b="b"/>
              <a:pathLst>
                <a:path w="904412" h="9144000">
                  <a:moveTo>
                    <a:pt x="0" y="0"/>
                  </a:moveTo>
                  <a:lnTo>
                    <a:pt x="904412" y="0"/>
                  </a:lnTo>
                  <a:lnTo>
                    <a:pt x="904412" y="9144000"/>
                  </a:lnTo>
                  <a:lnTo>
                    <a:pt x="391235" y="9144000"/>
                  </a:lnTo>
                  <a:cubicBezTo>
                    <a:pt x="445385" y="6730684"/>
                    <a:pt x="250230" y="1995757"/>
                    <a:pt x="0" y="0"/>
                  </a:cubicBezTo>
                  <a:close/>
                </a:path>
              </a:pathLst>
            </a:custGeom>
            <a:solidFill>
              <a:schemeClr val="tx1">
                <a:alpha val="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17" name="Rectangle 72"/>
            <p:cNvSpPr/>
            <p:nvPr/>
          </p:nvSpPr>
          <p:spPr bwMode="ltGray">
            <a:xfrm rot="5400000">
              <a:off x="4023569" y="23069"/>
              <a:ext cx="1096862" cy="9144000"/>
            </a:xfrm>
            <a:custGeom>
              <a:avLst/>
              <a:gdLst/>
              <a:ahLst/>
              <a:cxnLst/>
              <a:rect l="l" t="t" r="r" b="b"/>
              <a:pathLst>
                <a:path w="1096862" h="9144000">
                  <a:moveTo>
                    <a:pt x="1096861" y="9136375"/>
                  </a:moveTo>
                  <a:lnTo>
                    <a:pt x="1096861" y="0"/>
                  </a:lnTo>
                  <a:lnTo>
                    <a:pt x="1096862" y="0"/>
                  </a:lnTo>
                  <a:lnTo>
                    <a:pt x="1096862" y="9136375"/>
                  </a:lnTo>
                  <a:close/>
                  <a:moveTo>
                    <a:pt x="0" y="0"/>
                  </a:moveTo>
                  <a:lnTo>
                    <a:pt x="142171" y="0"/>
                  </a:lnTo>
                  <a:cubicBezTo>
                    <a:pt x="214017" y="532804"/>
                    <a:pt x="281641" y="1260834"/>
                    <a:pt x="340913" y="2087809"/>
                  </a:cubicBezTo>
                  <a:cubicBezTo>
                    <a:pt x="492781" y="4358443"/>
                    <a:pt x="587048" y="7374964"/>
                    <a:pt x="547354" y="9144000"/>
                  </a:cubicBezTo>
                  <a:lnTo>
                    <a:pt x="452132" y="9144000"/>
                  </a:lnTo>
                  <a:cubicBezTo>
                    <a:pt x="484963" y="4670358"/>
                    <a:pt x="240277" y="2482661"/>
                    <a:pt x="0" y="0"/>
                  </a:cubicBezTo>
                  <a:close/>
                </a:path>
              </a:pathLst>
            </a:custGeom>
            <a:solidFill>
              <a:schemeClr val="tx1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dirty="0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51060" y="1150514"/>
            <a:ext cx="1828324" cy="502168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8882" y="1150514"/>
            <a:ext cx="8227457" cy="5021685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9BD0D-E0B1-4CED-AC65-708AC79EB9CD}" type="datetime1">
              <a:rPr lang="en-US"/>
              <a:t>4/18/2025</a:t>
            </a:fld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9D79-8A4B-4031-B1E0-AF26F8EDF2BC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1644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bottom graphic"/>
          <p:cNvGrpSpPr/>
          <p:nvPr/>
        </p:nvGrpSpPr>
        <p:grpSpPr>
          <a:xfrm>
            <a:off x="0" y="5409216"/>
            <a:ext cx="12188825" cy="1462483"/>
            <a:chOff x="0" y="4056912"/>
            <a:chExt cx="9144000" cy="1096862"/>
          </a:xfrm>
        </p:grpSpPr>
        <p:sp>
          <p:nvSpPr>
            <p:cNvPr id="21" name="Freeform 20"/>
            <p:cNvSpPr/>
            <p:nvPr/>
          </p:nvSpPr>
          <p:spPr bwMode="ltGray">
            <a:xfrm rot="5400000">
              <a:off x="4119794" y="119293"/>
              <a:ext cx="904412" cy="9144000"/>
            </a:xfrm>
            <a:custGeom>
              <a:avLst/>
              <a:gdLst/>
              <a:ahLst/>
              <a:cxnLst/>
              <a:rect l="l" t="t" r="r" b="b"/>
              <a:pathLst>
                <a:path w="904412" h="9144000">
                  <a:moveTo>
                    <a:pt x="0" y="0"/>
                  </a:moveTo>
                  <a:lnTo>
                    <a:pt x="904412" y="0"/>
                  </a:lnTo>
                  <a:lnTo>
                    <a:pt x="904412" y="9144000"/>
                  </a:lnTo>
                  <a:lnTo>
                    <a:pt x="391235" y="9144000"/>
                  </a:lnTo>
                  <a:cubicBezTo>
                    <a:pt x="445385" y="6730684"/>
                    <a:pt x="250230" y="1995757"/>
                    <a:pt x="0" y="0"/>
                  </a:cubicBezTo>
                  <a:close/>
                </a:path>
              </a:pathLst>
            </a:custGeom>
            <a:solidFill>
              <a:schemeClr val="tx1">
                <a:alpha val="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18" name="Rectangle 72"/>
            <p:cNvSpPr/>
            <p:nvPr/>
          </p:nvSpPr>
          <p:spPr bwMode="ltGray">
            <a:xfrm rot="5400000">
              <a:off x="4023569" y="33343"/>
              <a:ext cx="1096862" cy="9144000"/>
            </a:xfrm>
            <a:custGeom>
              <a:avLst/>
              <a:gdLst/>
              <a:ahLst/>
              <a:cxnLst/>
              <a:rect l="l" t="t" r="r" b="b"/>
              <a:pathLst>
                <a:path w="1096862" h="9144000">
                  <a:moveTo>
                    <a:pt x="1096861" y="9136375"/>
                  </a:moveTo>
                  <a:lnTo>
                    <a:pt x="1096861" y="0"/>
                  </a:lnTo>
                  <a:lnTo>
                    <a:pt x="1096862" y="0"/>
                  </a:lnTo>
                  <a:lnTo>
                    <a:pt x="1096862" y="9136375"/>
                  </a:lnTo>
                  <a:close/>
                  <a:moveTo>
                    <a:pt x="0" y="0"/>
                  </a:moveTo>
                  <a:lnTo>
                    <a:pt x="142171" y="0"/>
                  </a:lnTo>
                  <a:cubicBezTo>
                    <a:pt x="214017" y="532804"/>
                    <a:pt x="281641" y="1260834"/>
                    <a:pt x="340913" y="2087809"/>
                  </a:cubicBezTo>
                  <a:cubicBezTo>
                    <a:pt x="492781" y="4358443"/>
                    <a:pt x="587048" y="7374964"/>
                    <a:pt x="547354" y="9144000"/>
                  </a:cubicBezTo>
                  <a:lnTo>
                    <a:pt x="452132" y="9144000"/>
                  </a:lnTo>
                  <a:cubicBezTo>
                    <a:pt x="484963" y="4670358"/>
                    <a:pt x="240277" y="2482661"/>
                    <a:pt x="0" y="0"/>
                  </a:cubicBezTo>
                  <a:close/>
                </a:path>
              </a:pathLst>
            </a:custGeom>
            <a:solidFill>
              <a:schemeClr val="tx1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dirty="0"/>
            </a:p>
          </p:txBody>
        </p:sp>
      </p:grpSp>
      <p:grpSp>
        <p:nvGrpSpPr>
          <p:cNvPr id="7" name="squares"/>
          <p:cNvGrpSpPr/>
          <p:nvPr/>
        </p:nvGrpSpPr>
        <p:grpSpPr>
          <a:xfrm>
            <a:off x="1" y="800551"/>
            <a:ext cx="1063023" cy="524183"/>
            <a:chOff x="0" y="452558"/>
            <a:chExt cx="914400" cy="524182"/>
          </a:xfrm>
        </p:grpSpPr>
        <p:sp>
          <p:nvSpPr>
            <p:cNvPr id="8" name="Rounded Rectangle 7"/>
            <p:cNvSpPr/>
            <p:nvPr/>
          </p:nvSpPr>
          <p:spPr>
            <a:xfrm>
              <a:off x="591671" y="452558"/>
              <a:ext cx="322729" cy="524180"/>
            </a:xfrm>
            <a:prstGeom prst="round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215154" y="452558"/>
              <a:ext cx="322729" cy="524180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10" name="Round Same Side Corner Rectangle 9"/>
            <p:cNvSpPr/>
            <p:nvPr/>
          </p:nvSpPr>
          <p:spPr>
            <a:xfrm rot="5400000">
              <a:off x="-181408" y="633966"/>
              <a:ext cx="524182" cy="161366"/>
            </a:xfrm>
            <a:prstGeom prst="round2SameRect">
              <a:avLst>
                <a:gd name="adj1" fmla="val 29167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18883" y="152400"/>
            <a:ext cx="9751060" cy="1295400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600200"/>
            <a:ext cx="9751060" cy="4572000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18883" y="6448425"/>
            <a:ext cx="8288401" cy="180976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547913" y="6448425"/>
            <a:ext cx="1422030" cy="180976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D29E8617-6EA8-4B97-A5E8-E18E98765EE2}" type="datetime1">
              <a:rPr lang="en-US"/>
              <a:pPr/>
              <a:t>4/18/2025</a:t>
            </a:fld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071516" y="6448425"/>
            <a:ext cx="812588" cy="180976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34C99D79-8A4B-4031-B1E0-AF26F8EDF2BC}" type="slidenum">
              <a:rPr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826826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1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1218987" rtl="0" eaLnBrk="1" latinLnBrk="0" hangingPunct="1"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0000"/>
        </a:lnSpc>
        <a:spcBef>
          <a:spcPts val="1800"/>
        </a:spcBef>
        <a:buClr>
          <a:schemeClr val="accent1">
            <a:lumMod val="75000"/>
          </a:schemeClr>
        </a:buClr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55772" indent="-304747" algn="l" defTabSz="1218987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Font typeface="Arial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06797" indent="-30474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75000"/>
          </a:schemeClr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57822" indent="-30474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75000"/>
          </a:schemeClr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108847" indent="-30474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75000"/>
          </a:schemeClr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59872" indent="-30474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3010897" indent="-30474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61922" indent="-30474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912947" indent="-30474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800" dirty="0"/>
              <a:t>A/B Testing of Online Advertising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F1FAA2D-6139-55B7-5E76-365F8148B87D}"/>
              </a:ext>
            </a:extLst>
          </p:cNvPr>
          <p:cNvSpPr/>
          <p:nvPr/>
        </p:nvSpPr>
        <p:spPr>
          <a:xfrm>
            <a:off x="1370012" y="2743200"/>
            <a:ext cx="9525000" cy="3886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/>
              <a:t>A/B Testing of Online Advertising</a:t>
            </a:r>
            <a:endParaRPr lang="en-PK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FC18AB6-3164-FD19-4BA7-3C5D03FD54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0012" y="2379636"/>
            <a:ext cx="5181600" cy="422486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C71DA34-0AEA-1F72-94C4-0D7B50B2FA01}"/>
              </a:ext>
            </a:extLst>
          </p:cNvPr>
          <p:cNvSpPr txBox="1"/>
          <p:nvPr/>
        </p:nvSpPr>
        <p:spPr>
          <a:xfrm>
            <a:off x="7237412" y="3657600"/>
            <a:ext cx="464819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/>
              <a:t>Which is Better ?</a:t>
            </a:r>
            <a:endParaRPr lang="en-PK" sz="4000" dirty="0"/>
          </a:p>
        </p:txBody>
      </p:sp>
    </p:spTree>
    <p:extLst>
      <p:ext uri="{BB962C8B-B14F-4D97-AF65-F5344CB8AC3E}">
        <p14:creationId xmlns:p14="http://schemas.microsoft.com/office/powerpoint/2010/main" val="28018350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Agenda</a:t>
            </a:r>
            <a:endParaRPr lang="en-US" sz="6000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1065212" y="2057400"/>
            <a:ext cx="5942329" cy="3886200"/>
          </a:xfrm>
        </p:spPr>
        <p:txBody>
          <a:bodyPr>
            <a:normAutofit/>
          </a:bodyPr>
          <a:lstStyle/>
          <a:p>
            <a:r>
              <a:rPr lang="en-US" sz="3600" dirty="0"/>
              <a:t>Problem Statement</a:t>
            </a:r>
          </a:p>
          <a:p>
            <a:r>
              <a:rPr lang="en-US" sz="3600" dirty="0"/>
              <a:t>Visualizations and Analysis </a:t>
            </a:r>
          </a:p>
          <a:p>
            <a:r>
              <a:rPr lang="en-US" sz="3600" dirty="0"/>
              <a:t>Recommendation and Insights</a:t>
            </a:r>
          </a:p>
        </p:txBody>
      </p:sp>
    </p:spTree>
    <p:extLst>
      <p:ext uri="{BB962C8B-B14F-4D97-AF65-F5344CB8AC3E}">
        <p14:creationId xmlns:p14="http://schemas.microsoft.com/office/powerpoint/2010/main" val="20413418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Problem Statement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half" idx="1"/>
          </p:nvPr>
        </p:nvSpPr>
        <p:spPr>
          <a:xfrm>
            <a:off x="379412" y="1752600"/>
            <a:ext cx="11582400" cy="3657600"/>
          </a:xfrm>
        </p:spPr>
        <p:txBody>
          <a:bodyPr>
            <a:normAutofit/>
          </a:bodyPr>
          <a:lstStyle/>
          <a:p>
            <a:pPr marL="0" marR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dirty="0">
                <a:effectLst/>
                <a:latin typeface="Constantia" panose="02030602050306030303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The goal of this project is to analyze and compare the performance of two different product advertisements (Product A and Product B) The objective is to determine which product's advert leads to a higher click-through rate (CTR) and estimate the probability that one product performs better than the other.</a:t>
            </a:r>
            <a:endParaRPr lang="en-PK" dirty="0">
              <a:effectLst/>
              <a:latin typeface="Constantia" panose="02030602050306030303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06650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Users By Product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237412" y="1454590"/>
            <a:ext cx="4270058" cy="28956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Product A has 50.3% users and Product B has 49.7% users . No of Users are close for both But maybe Product A is More engaging.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AB27E58-301A-F94A-67C5-DFD0317538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1412" y="1834640"/>
            <a:ext cx="3733800" cy="3874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0618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A3A2D4-FFFD-F142-D164-07841D0BD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D24D2-35C0-6F02-321E-31D20D5D6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Users By Click Rate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0B6643-F109-62FC-56A2-5CE7D1B226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237412" y="1454590"/>
            <a:ext cx="4270058" cy="28956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No of Users that clicked are 12.3% and Non-click users are 87.7% . Need to Identify Why users are not Clicking Need to Focus on Content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367A5B-5704-FC9F-EB84-8F8C149E82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212" y="1752600"/>
            <a:ext cx="3733800" cy="3944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08398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18DDDC-322A-5536-6A8B-80025F3EE1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FC20D-DC18-55F7-A45B-4E09C2F1D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Hypothesis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391E0E-202C-A133-2112-57672119ED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237412" y="1454590"/>
            <a:ext cx="4270058" cy="28956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Performed Z-Test to Identify the Effectiveness of product . Product A is Better as Compared to Product B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F204239-3FAE-E0ED-63A4-6CA6260B4D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212" y="2209800"/>
            <a:ext cx="6147465" cy="129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44061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2C8631-7D8D-C904-71CE-423712F564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61BE2-CB78-CE79-04FE-BD11B3D10D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Bayesian A/B Testing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8AC04F-59D8-CC56-65B8-0094ED5F5F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237412" y="1454590"/>
            <a:ext cx="4270058" cy="28956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Performed Bayesian Testing to Determine the Probability of Product A Effectiveness which is 97% more Accurate as compared to Product B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8E12A0-9B92-F538-500C-E14CA671DE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413" y="2012133"/>
            <a:ext cx="3962400" cy="109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69669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7FC142-5331-8334-4C2A-EF10B36571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DDA3F-E165-0A11-F81E-952FA2566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4F09BD-133B-447E-8945-CD83F3999F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767955" y="1724684"/>
            <a:ext cx="3965257" cy="345691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Product A is Better the Company should move with Product A . Also company should focus on marketing to increase the click rate 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4953907-2234-21EE-394A-BD60250BBF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812" y="1752600"/>
            <a:ext cx="6917995" cy="3825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56763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Cooking 16x9">
  <a:themeElements>
    <a:clrScheme name="Cooking_16x9">
      <a:dk1>
        <a:srgbClr val="000000"/>
      </a:dk1>
      <a:lt1>
        <a:sysClr val="window" lastClr="FFFFFF"/>
      </a:lt1>
      <a:dk2>
        <a:srgbClr val="7F7F7F"/>
      </a:dk2>
      <a:lt2>
        <a:srgbClr val="E6E6E6"/>
      </a:lt2>
      <a:accent1>
        <a:srgbClr val="89C01C"/>
      </a:accent1>
      <a:accent2>
        <a:srgbClr val="FCB22C"/>
      </a:accent2>
      <a:accent3>
        <a:srgbClr val="FE750E"/>
      </a:accent3>
      <a:accent4>
        <a:srgbClr val="F23610"/>
      </a:accent4>
      <a:accent5>
        <a:srgbClr val="7C283A"/>
      </a:accent5>
      <a:accent6>
        <a:srgbClr val="3E7520"/>
      </a:accent6>
      <a:hlink>
        <a:srgbClr val="89C01C"/>
      </a:hlink>
      <a:folHlink>
        <a:srgbClr val="A6A6A6"/>
      </a:folHlink>
    </a:clrScheme>
    <a:fontScheme name="Constantia">
      <a:majorFont>
        <a:latin typeface="Constant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nstant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1Subtle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r="100000" b="100000"/>
          </a:path>
        </a:gra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l="180000" t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esh food presentation (widescreen).potx" id="{63DD3034-9CB5-4B6F-BCA0-530A5E267AB2}" vid="{9783A5E3-1DF2-4F3C-8902-0C2EB8A188D6}"/>
    </a:ext>
  </a:extLst>
</a:theme>
</file>

<file path=ppt/theme/theme2.xml><?xml version="1.0" encoding="utf-8"?>
<a:theme xmlns:a="http://schemas.openxmlformats.org/drawingml/2006/main" name="Office Theme">
  <a:themeElements>
    <a:clrScheme name="Cooking_16x9">
      <a:dk1>
        <a:srgbClr val="000000"/>
      </a:dk1>
      <a:lt1>
        <a:sysClr val="window" lastClr="FFFFFF"/>
      </a:lt1>
      <a:dk2>
        <a:srgbClr val="7F7F7F"/>
      </a:dk2>
      <a:lt2>
        <a:srgbClr val="E6E6E6"/>
      </a:lt2>
      <a:accent1>
        <a:srgbClr val="89C01C"/>
      </a:accent1>
      <a:accent2>
        <a:srgbClr val="FCB22C"/>
      </a:accent2>
      <a:accent3>
        <a:srgbClr val="FE750E"/>
      </a:accent3>
      <a:accent4>
        <a:srgbClr val="F23610"/>
      </a:accent4>
      <a:accent5>
        <a:srgbClr val="7C283A"/>
      </a:accent5>
      <a:accent6>
        <a:srgbClr val="3E7520"/>
      </a:accent6>
      <a:hlink>
        <a:srgbClr val="89C01C"/>
      </a:hlink>
      <a:folHlink>
        <a:srgbClr val="A6A6A6"/>
      </a:folHlink>
    </a:clrScheme>
    <a:fontScheme name="Constantia">
      <a:majorFont>
        <a:latin typeface="Constant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nstant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1Subtle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r="100000" b="100000"/>
          </a:path>
        </a:gra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l="180000" t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Cooking_16x9">
      <a:dk1>
        <a:srgbClr val="000000"/>
      </a:dk1>
      <a:lt1>
        <a:sysClr val="window" lastClr="FFFFFF"/>
      </a:lt1>
      <a:dk2>
        <a:srgbClr val="7F7F7F"/>
      </a:dk2>
      <a:lt2>
        <a:srgbClr val="E6E6E6"/>
      </a:lt2>
      <a:accent1>
        <a:srgbClr val="89C01C"/>
      </a:accent1>
      <a:accent2>
        <a:srgbClr val="FCB22C"/>
      </a:accent2>
      <a:accent3>
        <a:srgbClr val="FE750E"/>
      </a:accent3>
      <a:accent4>
        <a:srgbClr val="F23610"/>
      </a:accent4>
      <a:accent5>
        <a:srgbClr val="7C283A"/>
      </a:accent5>
      <a:accent6>
        <a:srgbClr val="3E7520"/>
      </a:accent6>
      <a:hlink>
        <a:srgbClr val="89C01C"/>
      </a:hlink>
      <a:folHlink>
        <a:srgbClr val="A6A6A6"/>
      </a:folHlink>
    </a:clrScheme>
    <a:fontScheme name="Constantia">
      <a:majorFont>
        <a:latin typeface="Constant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nstant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1Subtle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r="100000" b="100000"/>
          </a:path>
        </a:gra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l="180000" t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7f9b5e87859ce6d7eedbdc6e4e4205c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5e0075ee7624d6a846e01eb61837427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  <Status xmlns="71af3243-3dd4-4a8d-8c0d-dd76da1f02a5">Not started</Status>
  </documentManagement>
</p:properties>
</file>

<file path=customXml/itemProps1.xml><?xml version="1.0" encoding="utf-8"?>
<ds:datastoreItem xmlns:ds="http://schemas.openxmlformats.org/officeDocument/2006/customXml" ds:itemID="{B294E97C-3F4C-4E01-A04E-9BE0A74CB78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5C13308-7B67-41B4-B320-CF6F8750F79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0869B95-F881-40D3-B967-365AC4DF04B5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Fresh food presentation (widescreen)</Template>
  <TotalTime>0</TotalTime>
  <Words>227</Words>
  <Application>Microsoft Office PowerPoint</Application>
  <PresentationFormat>Custom</PresentationFormat>
  <Paragraphs>27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Constantia</vt:lpstr>
      <vt:lpstr>Cooking 16x9</vt:lpstr>
      <vt:lpstr>A/B Testing of Online Advertising</vt:lpstr>
      <vt:lpstr>Agenda</vt:lpstr>
      <vt:lpstr>Problem Statement</vt:lpstr>
      <vt:lpstr>Users By Product</vt:lpstr>
      <vt:lpstr>Users By Click Rate</vt:lpstr>
      <vt:lpstr>Hypothesis Testing</vt:lpstr>
      <vt:lpstr>Bayesian A/B Testing 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2025-04-18T12:02:18Z</dcterms:created>
  <dcterms:modified xsi:type="dcterms:W3CDTF">2025-04-18T12:44:46Z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