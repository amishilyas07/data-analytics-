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72" r:id="rId3"/>
    <p:sldId id="266" r:id="rId4"/>
    <p:sldId id="286" r:id="rId5"/>
    <p:sldId id="289" r:id="rId6"/>
    <p:sldId id="301" r:id="rId7"/>
    <p:sldId id="300" r:id="rId8"/>
    <p:sldId id="302" r:id="rId9"/>
    <p:sldId id="303" r:id="rId10"/>
    <p:sldId id="304" r:id="rId11"/>
    <p:sldId id="305" r:id="rId12"/>
    <p:sldId id="30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810" autoAdjust="0"/>
  </p:normalViewPr>
  <p:slideViewPr>
    <p:cSldViewPr snapToGrid="0" showGuides="1">
      <p:cViewPr varScale="1">
        <p:scale>
          <a:sx n="111" d="100"/>
          <a:sy n="111" d="100"/>
        </p:scale>
        <p:origin x="59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ew%20folder%20E\Data%20Analyst%20Roadmap\Data%20Science%20Roadmap%20Campus%20X\Data%20Analytics%20Practice%20From%20Scratch\Excel\Real%20Hospital%20Data%20Analysis\hospital_data_sample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ew%20folder%20E\Data%20Analyst%20Roadmap\Data%20Science%20Roadmap%20Campus%20X\Data%20Analytics%20Practice%20From%20Scratch\Excel\Real%20Hospital%20Data%20Analysis\hospital_data_sample_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ew%20folder%20E\Data%20Analyst%20Roadmap\Data%20Science%20Roadmap%20Campus%20X\Data%20Analytics%20Practice%20From%20Scratch\Excel\Real%20Hospital%20Data%20Analysis\hospital_data_sample_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ew%20folder%20E\Data%20Analyst%20Roadmap\Data%20Science%20Roadmap%20Campus%20X\Data%20Analytics%20Practice%20From%20Scratch\Excel\Real%20Hospital%20Data%20Analysis\hospital_data_sample_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ew%20folder%20E\Data%20Analyst%20Roadmap\Data%20Science%20Roadmap%20Campus%20X\Data%20Analytics%20Practice%20From%20Scratch\Excel\Real%20Hospital%20Data%20Analysis\hospital_data_sample_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[hospital_data_sample_Analysis.xlsx]Pivot Tables 2 Custom !PivotTable2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No of Total Patients By Financial Class and Wait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6.8132132654688884E-2"/>
              <c:y val="0.1093656027075821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8F0BA4DB-A952-4921-AFAD-1BECFC3CFE89}" type="CELLRANGE">
                  <a:rPr lang="en-US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F1448DE2-9EAF-42AD-A5D4-C1579D7063BE}" type="CATEGORYNAM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5909A837-9B31-44B8-892C-06B9D30F021E}" type="VALU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E7D2EAAF-F192-4AA7-9DDF-CCCA6CF3E5D3}" type="CELLRANGE">
                  <a:rPr lang="en-US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616E250A-B14F-4BD9-83DE-DEA40567B114}" type="CATEGORYNAM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896ADC94-DB7D-4FD1-980C-C5BE33CC8DAE}" type="VALU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4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F695599E-71B6-4170-AF9C-F4759354DC5E}" type="CELLRANGE">
                  <a:rPr lang="en-US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28595E30-0D6B-43BA-AF43-0A901E20C2CC}" type="CATEGORYNAM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8AB5694A-D4E7-482A-91DF-26291715C663}" type="VALU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5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31C06B8C-EFF4-4A21-B8E2-6292C7DB84B2}" type="CELLRANGE">
                  <a:rPr lang="en-US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02CDAC1D-2146-4423-93AA-1C4F652FEDCD}" type="CATEGORYNAM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DE1397A1-79D6-4538-BBC4-C3E070423B55}" type="VALU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C9166AD9-24A5-4D76-9AA2-B4AB6A61FFCB}" type="CELLRANGE">
                  <a:rPr lang="en-PK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37A83854-79E6-4D2D-8DFA-A1713EDEB6EE}" type="CATEGORYNAM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PK" baseline="0"/>
                  <a:t>, </a:t>
                </a:r>
                <a:fld id="{63EA856E-7FEC-4DFE-86A9-67ACF92267D7}" type="VALU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E33209DA-FD3D-4182-BB5B-B26C2F092EAC}" type="CELLRANGE">
                  <a:rPr lang="en-PK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417317CC-90CF-4174-963D-A792A6FDFCF6}" type="CATEGORYNAM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PK" baseline="0"/>
                  <a:t>, </a:t>
                </a:r>
                <a:fld id="{EFEA45CC-95A3-41F4-AF5A-185068CB6563}" type="VALU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EC76ACCF-C7CE-4314-B680-23B08ED3D6E2}" type="CELLRANGE">
                  <a:rPr lang="en-PK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69CA89C4-A709-4F63-A029-66A619C7ECCD}" type="CATEGORYNAM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PK" baseline="0"/>
                  <a:t>, </a:t>
                </a:r>
                <a:fld id="{105772FA-B3A6-451C-AB50-238E2A6A4C52}" type="VALU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4A9A2460-BB05-432B-8232-D4DEBD133E1D}" type="CELLRANGE">
                  <a:rPr lang="en-PK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E789930C-D491-4E40-AC8C-DDA9E7C8C96E}" type="CATEGORYNAM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PK" baseline="0"/>
                  <a:t>, </a:t>
                </a:r>
                <a:fld id="{300AC13A-2D52-485E-BE9B-27DABA9740CB}" type="VALU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0C0625E9-25E0-4334-8A6B-9B2059BB6C9D}" type="CELLRANGE">
                  <a:rPr lang="en-PK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BF9A352A-DE40-415F-9921-ABFE62AE814D}" type="CATEGORYNAM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PK" baseline="0"/>
                  <a:t>, </a:t>
                </a:r>
                <a:fld id="{DB92CA8D-89B5-4EF2-A292-B19312C36078}" type="VALU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6D559E04-DEB2-41AF-B66B-65245648E3E0}" type="CELLRANGE">
                  <a:rPr lang="en-US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C2C1E744-D8C8-44EF-BBDF-6F538137DBBE}" type="CATEGORYNAM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3035C5D5-8F2B-404A-A36B-BB4EC502B5B9}" type="VALU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DC395B30-8158-4E55-A91E-748C05786B21}" type="CELLRANGE">
                  <a:rPr lang="en-US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BD9223D0-8EF0-4DE8-8784-008A1686E32E}" type="CATEGORYNAM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B47134D4-E2B9-4B21-9914-43611F64ADF3}" type="VALU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7790D2C6-D7F3-4054-822A-D56678EE563A}" type="CELLRANGE">
                  <a:rPr lang="en-US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2B702980-19FD-4D6C-BB35-337BB24C04EB}" type="CATEGORYNAM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1BCA9FCD-A976-43B2-B9E3-E91B3A7F69A8}" type="VALU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8955195451607409E-2"/>
              <c:y val="0.1585550598687927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0B382349-39D1-40C5-91F8-871051BBD406}" type="CELLRANG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072E6D4A-0F39-4E91-86D8-F4952EF54BED}" type="CATEGORYNAM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F20D6CD9-9745-4CA2-8FA7-AA004D440413}" type="VALU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1"/>
            </c:ext>
          </c:extLst>
        </c:dLbl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13728953-4252-45CE-83F4-2A15D76741D6}" type="CELLRANGE">
                  <a:rPr lang="en-US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093C0EFD-F686-422B-8ADA-A37FBCF2ABF2}" type="CATEGORYNAM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AE004328-0F14-490B-9898-80682DD6562C}" type="VALU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88B6B196-3D52-44C9-9CEA-B27FA122C374}" type="CELLRANGE">
                  <a:rPr lang="en-PK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40A3B3EB-F7AE-4ED6-B134-37C8A13015E1}" type="CATEGORYNAM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PK" baseline="0"/>
                  <a:t>, </a:t>
                </a:r>
                <a:fld id="{E5261EA0-EBB2-4652-BCCD-201FCE1E993F}" type="VALU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081AE157-7A10-4C0D-B9F3-E7EF715837AB}" type="CELLRANGE">
                  <a:rPr lang="en-PK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BDFC43BF-2D38-42EC-AEB7-CBCE8797A466}" type="CATEGORYNAM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PK" baseline="0"/>
                  <a:t>, </a:t>
                </a:r>
                <a:fld id="{D79499E2-B92C-4ECD-9CF2-D08511FB973F}" type="VALU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4DBADEC9-7DF2-4D8E-BF41-1472263EB502}" type="CELLRANGE">
                  <a:rPr lang="en-PK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328F2057-5910-4D1B-AD63-2395C93FDEC3}" type="CATEGORYNAM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PK" baseline="0"/>
                  <a:t>, </a:t>
                </a:r>
                <a:fld id="{9F27E83E-46E5-453A-97A1-C74884C9C9A4}" type="VALU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8955195451607409E-2"/>
              <c:y val="0.1585550598687927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5DF8EB81-0EA3-4274-824D-929384766DC4}" type="CELLRANG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5710D33C-D0B7-4EDB-ABFF-D19AB8BFED12}" type="CATEGORYNAM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93706A9A-DAA3-4BEA-A8B4-FCA363D27CE9}" type="VALU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1"/>
            </c:ext>
          </c:extLst>
        </c:dLbl>
      </c:pivotFmt>
      <c:pivotFmt>
        <c:idx val="3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ACE8A2D3-3BFE-47F3-BAB1-B69D6191FFBD}" type="CELLRANGE">
                  <a:rPr lang="en-PK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81376191-B408-4880-9AD2-7B2ADA50DC76}" type="CATEGORYNAM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PK" baseline="0"/>
                  <a:t>, </a:t>
                </a:r>
                <a:fld id="{A0F911AD-98AF-46E4-BC48-9B1F1FCBA607}" type="VALU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3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4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817710EB-60D4-4539-96F9-0701356BD846}" type="CELLRANGE">
                  <a:rPr lang="en-PK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ED195613-DE55-4BD8-8C6D-4E67DE877122}" type="CATEGORYNAM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PK" baseline="0"/>
                  <a:t>, </a:t>
                </a:r>
                <a:fld id="{0BFDDAFF-5867-4CA3-ADFF-CE02405D3412}" type="VALU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4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CA782906-043B-49DF-9C67-480FF3E9889F}" type="CELLRANGE">
                  <a:rPr lang="en-PK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561C1437-D75E-4BF4-81CD-2EA5E79B6504}" type="CATEGORYNAM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PK" baseline="0"/>
                  <a:t>, </a:t>
                </a:r>
                <a:fld id="{6B601B8C-3E5D-439E-8ABF-9CC784B03533}" type="VALU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4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01974779-9B31-4A79-B348-9952A8531487}" type="CELLRANGE">
                  <a:rPr lang="en-PK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7C840F85-D361-461F-8915-D45DD013AA7C}" type="CATEGORYNAM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PK" baseline="0"/>
                  <a:t>, </a:t>
                </a:r>
                <a:fld id="{1B706554-4B29-4790-8A13-05CBEC14A4C1}" type="VALU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4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8955195451607409E-2"/>
              <c:y val="0.1585550598687927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7AC04997-5DDE-47B8-9489-4065E4C8FB83}" type="CELLRANG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0A41CAFC-36C9-45E8-9679-9680B13198F1}" type="CATEGORYNAM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DE3341C7-D287-4509-B32F-D7356E85499E}" type="VALUE">
                  <a:rPr lang="en-US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1"/>
            </c:ext>
          </c:extLst>
        </c:dLbl>
      </c:pivotFmt>
      <c:pivotFmt>
        <c:idx val="4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224FEF36-E31D-4BA6-AD30-A00A6C9D8EE3}" type="CELLRANGE">
                  <a:rPr lang="en-PK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5C59025E-6ABC-4BEE-BA69-7D40EA4031CD}" type="CATEGORYNAM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PK" baseline="0"/>
                  <a:t>, </a:t>
                </a:r>
                <a:fld id="{C9061BAB-B44E-4AD8-B7F4-C5E050A884F5}" type="VALUE">
                  <a:rPr lang="en-PK" baseline="0"/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4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'Pivot Tables 2 Custom '!$F$11:$F$15</c:f>
              <c:strCache>
                <c:ptCount val="1"/>
                <c:pt idx="0">
                  <c:v>No of Total Patients</c:v>
                </c:pt>
              </c:strCache>
            </c:strRef>
          </c:tx>
          <c:explosion val="4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702-4C9D-A3F1-C3466D6A9C7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702-4C9D-A3F1-C3466D6A9C76}"/>
              </c:ext>
            </c:extLst>
          </c:dPt>
          <c:dPt>
            <c:idx val="2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702-4C9D-A3F1-C3466D6A9C76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702-4C9D-A3F1-C3466D6A9C76}"/>
              </c:ext>
            </c:extLst>
          </c:dPt>
          <c:dPt>
            <c:idx val="4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D702-4C9D-A3F1-C3466D6A9C7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658A760-370D-4F88-9EFB-B30B68E23CE1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17A3D27E-EC13-4F20-ADA8-30DF77DE3964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, </a:t>
                    </a:r>
                    <a:fld id="{DAF73660-75EC-4007-AEB0-13F0272ADA5A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D702-4C9D-A3F1-C3466D6A9C7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CCE202F-3820-467F-BBE5-B214119F70CB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87F59C7B-FE88-4FBE-8F6C-2A05B3DFC83E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, </a:t>
                    </a:r>
                    <a:fld id="{6DD76204-6B83-49BD-B255-21B1A442CEE0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D702-4C9D-A3F1-C3466D6A9C7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95EB47D-DB7B-4A0F-93EC-790D6B451950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D7921A8E-1C0C-440E-AE7D-F83556A4E022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, </a:t>
                    </a:r>
                    <a:fld id="{1E3B8E23-6641-40DF-9E93-A52E2AB9046C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D702-4C9D-A3F1-C3466D6A9C76}"/>
                </c:ext>
              </c:extLst>
            </c:dLbl>
            <c:dLbl>
              <c:idx val="3"/>
              <c:layout>
                <c:manualLayout>
                  <c:x val="1.8955195451607409E-2"/>
                  <c:y val="0.1585550598687927"/>
                </c:manualLayout>
              </c:layout>
              <c:tx>
                <c:rich>
                  <a:bodyPr/>
                  <a:lstStyle/>
                  <a:p>
                    <a:fld id="{C9584365-EFAC-43CD-8AFF-1C0CBE0F9051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5080B482-F405-423D-9A7D-2F5390B36F39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, </a:t>
                    </a:r>
                    <a:fld id="{D9DD43A6-5861-4169-9C71-C022B2C50E29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D702-4C9D-A3F1-C3466D6A9C7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B898327C-D46E-425F-9B04-F86C319A927E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68B5F0B3-AA3A-4427-8507-5B9B96400750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, </a:t>
                    </a:r>
                    <a:fld id="{17391FDF-7204-48CC-9BDF-E3F20E945568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D702-4C9D-A3F1-C3466D6A9C76}"/>
                </c:ext>
              </c:extLst>
            </c:dLbl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69850" cap="sq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bevel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'Pivot Tables 2 Custom '!$F$11:$F$15</c:f>
              <c:strCache>
                <c:ptCount val="5"/>
                <c:pt idx="0">
                  <c:v>CORPORATE</c:v>
                </c:pt>
                <c:pt idx="1">
                  <c:v>HMO</c:v>
                </c:pt>
                <c:pt idx="2">
                  <c:v>INSURANCE</c:v>
                </c:pt>
                <c:pt idx="3">
                  <c:v>MEDICARE</c:v>
                </c:pt>
                <c:pt idx="4">
                  <c:v>PRIVATE</c:v>
                </c:pt>
              </c:strCache>
            </c:strRef>
          </c:cat>
          <c:val>
            <c:numRef>
              <c:f>'Pivot Tables 2 Custom '!$F$11:$F$15</c:f>
              <c:numCache>
                <c:formatCode>0.00%</c:formatCode>
                <c:ptCount val="5"/>
                <c:pt idx="0">
                  <c:v>0.23051536769117942</c:v>
                </c:pt>
                <c:pt idx="1">
                  <c:v>0.12460830722048137</c:v>
                </c:pt>
                <c:pt idx="2">
                  <c:v>0.33105540369357955</c:v>
                </c:pt>
                <c:pt idx="3">
                  <c:v>9.7673178211880787E-3</c:v>
                </c:pt>
                <c:pt idx="4">
                  <c:v>0.30405360357357158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'Pivot Tables 2 Custom '!$F$11:$F$15</c15:f>
                <c15:dlblRangeCache>
                  <c:ptCount val="5"/>
                  <c:pt idx="0">
                    <c:v>46Min</c:v>
                  </c:pt>
                  <c:pt idx="1">
                    <c:v>46Min</c:v>
                  </c:pt>
                  <c:pt idx="2">
                    <c:v>44Min</c:v>
                  </c:pt>
                  <c:pt idx="3">
                    <c:v>58Min</c:v>
                  </c:pt>
                  <c:pt idx="4">
                    <c:v>40Min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A-D702-4C9D-A3F1-C3466D6A9C76}"/>
            </c:ext>
          </c:extLst>
        </c:ser>
        <c:ser>
          <c:idx val="1"/>
          <c:order val="1"/>
          <c:tx>
            <c:strRef>
              <c:f>'Pivot Tables 2 Custom '!$F$11:$F$15</c:f>
              <c:strCache>
                <c:ptCount val="1"/>
                <c:pt idx="0">
                  <c:v>Average Wait Time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D702-4C9D-A3F1-C3466D6A9C7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D702-4C9D-A3F1-C3466D6A9C7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D702-4C9D-A3F1-C3466D6A9C7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2-D702-4C9D-A3F1-C3466D6A9C76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4-D702-4C9D-A3F1-C3466D6A9C7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Tables 2 Custom '!$F$11:$F$15</c:f>
              <c:strCache>
                <c:ptCount val="5"/>
                <c:pt idx="0">
                  <c:v>CORPORATE</c:v>
                </c:pt>
                <c:pt idx="1">
                  <c:v>HMO</c:v>
                </c:pt>
                <c:pt idx="2">
                  <c:v>INSURANCE</c:v>
                </c:pt>
                <c:pt idx="3">
                  <c:v>MEDICARE</c:v>
                </c:pt>
                <c:pt idx="4">
                  <c:v>PRIVATE</c:v>
                </c:pt>
              </c:strCache>
            </c:strRef>
          </c:cat>
          <c:val>
            <c:numRef>
              <c:f>'Pivot Tables 2 Custom '!$F$11:$F$15</c:f>
              <c:numCache>
                <c:formatCode>##"Min"</c:formatCode>
                <c:ptCount val="5"/>
                <c:pt idx="0">
                  <c:v>46.431472644010483</c:v>
                </c:pt>
                <c:pt idx="1">
                  <c:v>46.274130551096817</c:v>
                </c:pt>
                <c:pt idx="2">
                  <c:v>44.276982848320003</c:v>
                </c:pt>
                <c:pt idx="3">
                  <c:v>57.894766780432342</c:v>
                </c:pt>
                <c:pt idx="4">
                  <c:v>39.89888535613796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D702-4C9D-A3F1-C3466D6A9C76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[hospital_data_sample_Analysis.xlsx]Pivot Tables 2 Custom !PivotTable7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Average Wait Time and No</a:t>
            </a:r>
            <a:r>
              <a:rPr lang="en-US" b="1" baseline="0">
                <a:solidFill>
                  <a:schemeClr val="tx1"/>
                </a:solidFill>
              </a:rPr>
              <a:t> of Patients</a:t>
            </a:r>
            <a:endParaRPr lang="en-PK" b="1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581B0747-CD98-414D-9DB8-5A1CF8CCC977}" type="CELLRANGE">
                  <a:rPr lang="en-US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55C2BCBE-729F-4CBC-9A80-2674A53E76CB}" type="VALUE">
                  <a:rPr lang="en-US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08C5484B-E297-4DF3-84C1-080D478D7D3A}" type="CELLRANGE">
                  <a:rPr lang="en-US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8CDA4ADD-79D2-4686-A1E3-FB4B38156642}" type="VALUE">
                  <a:rPr lang="en-US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570EDAEB-F62E-4FA5-9920-6E153B8F4579}" type="CELLRANGE">
                  <a:rPr lang="en-US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EDF9DD46-8572-4952-8F33-08A32A8E62A1}" type="VALUE">
                  <a:rPr lang="en-US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E9AE0982-9E7F-4A92-9311-512C195ABF7E}" type="CELLRANGE">
                  <a:rPr lang="en-US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84966D84-F1C1-4BF3-A2E1-7F4A2053313F}" type="VALUE">
                  <a:rPr lang="en-US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2286B385-7E8B-48A5-A940-EB77CBF2878E}" type="CELLRANGE">
                  <a:rPr lang="en-US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10E8F27E-11B5-45BE-91D8-754C0CF28364}" type="VALUE">
                  <a:rPr lang="en-US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56530D39-7302-41EA-B3FB-FF8D4DE0A1EA}" type="CELLRANGE">
                  <a:rPr lang="en-US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0EE8CC09-CE5B-48AB-BA74-E1DA69D17635}" type="VALUE">
                  <a:rPr lang="en-US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59651A49-BFD3-42C6-AFF8-ADE219C276F9}" type="CELLRANGE">
                  <a:rPr lang="en-US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FD89E092-46EE-4BFB-B6C3-3DF583846C26}" type="VALUE">
                  <a:rPr lang="en-US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ED255088-2AD3-4C39-A384-59A6CFC8C8D5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8122B33C-1492-4E92-BC00-5E1A2A2D92CA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375E8321-EFB0-4908-9A63-3D5DE29014B0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3C380575-A46E-4509-8718-E62F2D11C24A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D52FFC8F-C1C8-4F9D-ADC6-CE42EF5EEB50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1587AD09-BAE2-44D2-910B-672C3B6A0F91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A7E51A3B-6137-478C-9DE6-3FB1716DD1AE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BBCE4EF1-4FA1-416A-9C61-9FB612E1E374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E5272467-8817-4B73-A5D3-28844A1BE744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9F271A0A-8D8B-4D67-A183-336FF2677462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AFF961FA-892B-4994-868B-FB6E31EF7968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EE5A4078-873C-4591-96D5-040A9F782330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4482D4FC-2009-4C3D-B54E-7EF161DF0B2B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AD7CD6F4-1207-4EDB-9045-83BB4686D1B4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20"/>
        <c:spPr>
          <a:solidFill>
            <a:schemeClr val="accent3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8AF9EFB6-B867-49EE-9ECA-F2F14AFD7E49}" type="CELLRANGE">
                  <a:rPr lang="en-US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74DEC1C0-17EA-4341-BF09-8EC86DB143DA}" type="VALUE">
                  <a:rPr lang="en-US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21"/>
        <c:spPr>
          <a:solidFill>
            <a:schemeClr val="accent4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1F6197A4-76A4-4D5F-891B-E1AF4DDE3791}" type="CELLRANGE">
                  <a:rPr lang="en-US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947F8EB0-E0EC-4D6A-B7A4-D59426E14B41}" type="VALUE">
                  <a:rPr lang="en-US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22"/>
        <c:spPr>
          <a:solidFill>
            <a:schemeClr val="accent3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749F5E09-A091-4802-81DA-C35A37899362}" type="CELLRANGE">
                  <a:rPr lang="en-US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95343B78-E0D4-44DA-A1CD-1DC4836917ED}" type="VALUE">
                  <a:rPr lang="en-US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23"/>
        <c:spPr>
          <a:solidFill>
            <a:srgbClr val="FFC000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18C98F7B-E080-4FAC-972D-1081C501352B}" type="CELLRANGE">
                  <a:rPr lang="en-US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771F7998-FF96-41EB-AE47-C1051F2B8501}" type="VALUE">
                  <a:rPr lang="en-US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24"/>
        <c:spPr>
          <a:solidFill>
            <a:schemeClr val="accent3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8EA68544-174C-4FE9-B2C5-5E49C5B8094D}" type="CELLRANGE">
                  <a:rPr lang="en-US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B85C02EC-BA13-4308-990A-C0CD015FC617}" type="VALUE">
                  <a:rPr lang="en-US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25"/>
        <c:spPr>
          <a:solidFill>
            <a:schemeClr val="accent3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2C350189-C42A-4D14-B0A1-43E4B4B479C9}" type="CELLRANGE">
                  <a:rPr lang="en-US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8056CD22-2C32-4C38-9E3F-74EE1B121B51}" type="VALUE">
                  <a:rPr lang="en-US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26"/>
        <c:spPr>
          <a:solidFill>
            <a:schemeClr val="accent3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9932140B-215F-4786-BA79-698F3EEEFD58}" type="CELLRANGE">
                  <a:rPr lang="en-US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US" baseline="0"/>
                  <a:t>, </a:t>
                </a:r>
                <a:fld id="{6218A27E-C25B-4A12-BCB4-BB7784C9790E}" type="VALUE">
                  <a:rPr lang="en-US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29"/>
        <c:spPr>
          <a:solidFill>
            <a:schemeClr val="accent4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FDCCF238-5565-40CE-BC58-07D293CCA545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7C936243-B35C-4299-AB66-269E800A3B94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30"/>
        <c:spPr>
          <a:solidFill>
            <a:srgbClr val="FFC000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D5378119-76A7-4AB8-8048-B093076701CE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22897C4F-DCE1-49AF-9DFF-3766820DDA35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31"/>
        <c:spPr>
          <a:solidFill>
            <a:schemeClr val="accent3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2F459331-5A9C-4DD4-8157-B0BEC45AF008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10516D16-17F1-4AB7-AF28-42F3FAD02A5C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32"/>
        <c:spPr>
          <a:solidFill>
            <a:schemeClr val="accent3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F770EFB9-E574-43FC-8504-369C374D4D05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CB330CA6-DF7A-4D35-991A-DF737FFAB154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33"/>
        <c:spPr>
          <a:solidFill>
            <a:schemeClr val="accent3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232207EE-66D2-44ED-83C4-1C08D6D16173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15396E50-E65E-46F7-90FF-E6987324E558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34"/>
        <c:spPr>
          <a:solidFill>
            <a:schemeClr val="accent3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BEDB3ABC-4D91-460B-A2EE-64B5038437CA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F17C236E-4141-4372-94E5-29B85E6D08F5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35"/>
        <c:spPr>
          <a:solidFill>
            <a:schemeClr val="accent3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1300656A-58B3-4668-B4B3-330CEA65BB76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D1ED9D1A-0FE6-4283-A1BF-D3906F4EB994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38"/>
        <c:spPr>
          <a:solidFill>
            <a:schemeClr val="accent4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02E319B2-6B51-464E-8966-FA9EB3B1A531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E637CB2C-E905-4D9E-A94F-5ADCFE2CDDBD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39"/>
        <c:spPr>
          <a:solidFill>
            <a:srgbClr val="FFC000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0E46CC8A-8C77-4543-A49E-61695CD49690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FCB59E28-9369-4720-BB9B-7DE9C6DE8C15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40"/>
        <c:spPr>
          <a:solidFill>
            <a:schemeClr val="accent3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C29E97F9-EAA9-4D9B-94A6-E48F1876C137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8B0B7C52-F37D-4295-BC1F-BEC4EDE2903B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41"/>
        <c:spPr>
          <a:solidFill>
            <a:schemeClr val="accent3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6619ABDA-4D4D-48E0-A073-15C2277096FE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137AB418-9C48-4FA6-ABEA-B124FA84BF0E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42"/>
        <c:spPr>
          <a:solidFill>
            <a:schemeClr val="accent3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A159CC5D-A2FE-4B6D-A68E-73BD64D2A039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C2701BC1-AE99-4CB0-BD30-8BA5B35E1D68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43"/>
        <c:spPr>
          <a:solidFill>
            <a:schemeClr val="accent3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E7B40611-8E8B-4914-BE3C-269815883AFC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8E526041-F4B1-4AC1-BD98-677D9E12166E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44"/>
        <c:spPr>
          <a:solidFill>
            <a:schemeClr val="accent3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96B76412-D849-4B79-9D17-3DECF9A9F88F}" type="CELLRANGE">
                  <a:rPr lang="en-PK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[CELLRANGE]</a:t>
                </a:fld>
                <a:r>
                  <a:rPr lang="en-PK" baseline="0"/>
                  <a:t>, </a:t>
                </a:r>
                <a:fld id="{5E9A598E-CF56-4FE9-BA80-497848A80A63}" type="VALUE">
                  <a:rPr lang="en-PK" baseline="0"/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PK" baseline="0"/>
              </a:p>
            </c:rich>
          </c:tx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 2 Custom '!$E$33:$E$39</c:f>
              <c:strCache>
                <c:ptCount val="1"/>
                <c:pt idx="0">
                  <c:v>Average of Wait Minutes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2 Custom '!$E$33:$E$39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'Pivot Tables 2 Custom '!$E$33:$E$39</c:f>
              <c:numCache>
                <c:formatCode>0</c:formatCode>
                <c:ptCount val="7"/>
                <c:pt idx="0">
                  <c:v>32.753570027461691</c:v>
                </c:pt>
                <c:pt idx="1">
                  <c:v>49.169552659219057</c:v>
                </c:pt>
                <c:pt idx="2">
                  <c:v>42.456663737551231</c:v>
                </c:pt>
                <c:pt idx="3">
                  <c:v>46.915951410532919</c:v>
                </c:pt>
                <c:pt idx="4">
                  <c:v>42.470956478363867</c:v>
                </c:pt>
                <c:pt idx="5">
                  <c:v>42.481833570316169</c:v>
                </c:pt>
                <c:pt idx="6">
                  <c:v>42.499501661129663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B0-426C-8ABF-D8E940DA4232}"/>
            </c:ext>
          </c:extLst>
        </c:ser>
        <c:ser>
          <c:idx val="1"/>
          <c:order val="1"/>
          <c:tx>
            <c:strRef>
              <c:f>'Pivot Tables 2 Custom '!$E$33:$E$39</c:f>
              <c:strCache>
                <c:ptCount val="1"/>
                <c:pt idx="0">
                  <c:v>No of Patients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6B0-426C-8ABF-D8E940DA4232}"/>
              </c:ext>
            </c:extLst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06B0-426C-8ABF-D8E940DA423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EC2E761A-A76E-44DD-96F7-335F8010B666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F13D6619-E6FB-4D71-BC4D-5CF1F92980D5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06B0-426C-8ABF-D8E940DA423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F1380AF-459A-4F08-A625-BA4C60CF81B3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FC2ED8BB-972E-4B6E-B20F-20B25561ABC9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06B0-426C-8ABF-D8E940DA423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CF3C3B5-0F42-40B0-A708-3F4E0FCF4621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317AB160-04E9-40CD-8E0B-3F877B501575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06B0-426C-8ABF-D8E940DA423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8B1A822A-BB6D-4FB5-8B43-40A963381843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097D4288-533B-445B-A79F-5EB470CD379E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06B0-426C-8ABF-D8E940DA423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BF798C1C-199E-4B31-AC2E-9CA1DB8DE88E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A131936C-CB07-417A-8FA2-E8EF7C334C49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06B0-426C-8ABF-D8E940DA423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2ED34498-F569-46A0-B107-518DEB12AC2E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A76F8BF2-3297-4710-B483-C9F770F7B088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06B0-426C-8ABF-D8E940DA423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D1BF876F-148D-42ED-984D-410D8F6D4C39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8E172A5E-576E-4D62-BE8C-610E8CAFD128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06B0-426C-8ABF-D8E940DA4232}"/>
                </c:ext>
              </c:extLst>
            </c:dLbl>
            <c:spPr>
              <a:solidFill>
                <a:schemeClr val="bg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2 Custom '!$E$33:$E$39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'Pivot Tables 2 Custom '!$E$33:$E$39</c:f>
              <c:numCache>
                <c:formatCode>General</c:formatCode>
                <c:ptCount val="7"/>
                <c:pt idx="0">
                  <c:v>2549</c:v>
                </c:pt>
                <c:pt idx="1">
                  <c:v>6982</c:v>
                </c:pt>
                <c:pt idx="2">
                  <c:v>5690</c:v>
                </c:pt>
                <c:pt idx="3">
                  <c:v>4171</c:v>
                </c:pt>
                <c:pt idx="4">
                  <c:v>2673</c:v>
                </c:pt>
                <c:pt idx="5">
                  <c:v>4923</c:v>
                </c:pt>
                <c:pt idx="6">
                  <c:v>3010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'Pivot Tables 2 Custom '!$E$33:$E$39</c15:f>
                <c15:dlblRangeCache>
                  <c:ptCount val="7"/>
                  <c:pt idx="0">
                    <c:v>33</c:v>
                  </c:pt>
                  <c:pt idx="1">
                    <c:v>49</c:v>
                  </c:pt>
                  <c:pt idx="2">
                    <c:v>42</c:v>
                  </c:pt>
                  <c:pt idx="3">
                    <c:v>47</c:v>
                  </c:pt>
                  <c:pt idx="4">
                    <c:v>42</c:v>
                  </c:pt>
                  <c:pt idx="5">
                    <c:v>42</c:v>
                  </c:pt>
                  <c:pt idx="6">
                    <c:v>42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A-06B0-426C-8ABF-D8E940DA42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76494815"/>
        <c:axId val="976498655"/>
      </c:barChart>
      <c:catAx>
        <c:axId val="9764948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76498655"/>
        <c:crosses val="autoZero"/>
        <c:auto val="1"/>
        <c:lblAlgn val="ctr"/>
        <c:lblOffset val="100"/>
        <c:noMultiLvlLbl val="0"/>
      </c:catAx>
      <c:valAx>
        <c:axId val="976498655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764948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[hospital_data_sample_Analysis.xlsx]Pivot Tables 2 Custom !PivotTable16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Average</a:t>
            </a:r>
            <a:r>
              <a:rPr lang="en-US" b="1" baseline="0">
                <a:solidFill>
                  <a:schemeClr val="tx1"/>
                </a:solidFill>
              </a:rPr>
              <a:t> Wait Time and No of Patients By Hour of Day</a:t>
            </a:r>
            <a:endParaRPr lang="en-PK" b="1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3984255654484696"/>
          <c:y val="0.156236064081390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6"/>
        <c:spPr>
          <a:solidFill>
            <a:schemeClr val="accent4"/>
          </a:solidFill>
          <a:ln>
            <a:noFill/>
          </a:ln>
          <a:effectLst/>
        </c:spPr>
      </c:pivotFmt>
      <c:pivotFmt>
        <c:idx val="7"/>
        <c:spPr>
          <a:solidFill>
            <a:schemeClr val="accent4"/>
          </a:solidFill>
          <a:ln>
            <a:noFill/>
          </a:ln>
          <a:effectLst/>
        </c:spPr>
      </c:pivotFmt>
      <c:pivotFmt>
        <c:idx val="8"/>
        <c:spPr>
          <a:solidFill>
            <a:schemeClr val="accent4"/>
          </a:solidFill>
          <a:ln>
            <a:noFill/>
          </a:ln>
          <a:effectLst/>
        </c:spPr>
      </c:pivotFmt>
      <c:pivotFmt>
        <c:idx val="9"/>
        <c:spPr>
          <a:solidFill>
            <a:srgbClr val="FFC000"/>
          </a:solidFill>
          <a:ln>
            <a:noFill/>
          </a:ln>
          <a:effectLst/>
        </c:spPr>
      </c:pivotFmt>
      <c:pivotFmt>
        <c:idx val="10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4"/>
          </a:solidFill>
          <a:ln>
            <a:noFill/>
          </a:ln>
          <a:effectLst/>
        </c:spPr>
      </c:pivotFmt>
      <c:pivotFmt>
        <c:idx val="12"/>
        <c:spPr>
          <a:solidFill>
            <a:schemeClr val="accent4"/>
          </a:solidFill>
          <a:ln>
            <a:noFill/>
          </a:ln>
          <a:effectLst/>
        </c:spPr>
      </c:pivotFmt>
      <c:pivotFmt>
        <c:idx val="13"/>
        <c:spPr>
          <a:solidFill>
            <a:schemeClr val="accent4"/>
          </a:solidFill>
          <a:ln>
            <a:noFill/>
          </a:ln>
          <a:effectLst/>
        </c:spPr>
      </c:pivotFmt>
      <c:pivotFmt>
        <c:idx val="14"/>
        <c:spPr>
          <a:solidFill>
            <a:srgbClr val="FFC000"/>
          </a:solidFill>
          <a:ln>
            <a:noFill/>
          </a:ln>
          <a:effectLst/>
        </c:spPr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4"/>
          </a:solidFill>
          <a:ln>
            <a:noFill/>
          </a:ln>
          <a:effectLst/>
        </c:spPr>
      </c:pivotFmt>
      <c:pivotFmt>
        <c:idx val="18"/>
        <c:spPr>
          <a:solidFill>
            <a:schemeClr val="accent4"/>
          </a:solidFill>
          <a:ln>
            <a:noFill/>
          </a:ln>
          <a:effectLst/>
        </c:spPr>
      </c:pivotFmt>
      <c:pivotFmt>
        <c:idx val="19"/>
        <c:spPr>
          <a:solidFill>
            <a:schemeClr val="accent4"/>
          </a:solidFill>
          <a:ln>
            <a:noFill/>
          </a:ln>
          <a:effectLst/>
        </c:spPr>
      </c:pivotFmt>
      <c:pivotFmt>
        <c:idx val="20"/>
        <c:spPr>
          <a:solidFill>
            <a:srgbClr val="FFC000"/>
          </a:solidFill>
          <a:ln>
            <a:noFill/>
          </a:ln>
          <a:effectLst/>
        </c:spPr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 2 Custom '!$E$74</c:f>
              <c:strCache>
                <c:ptCount val="1"/>
                <c:pt idx="0">
                  <c:v>Average Wait Time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951-4553-94EE-B3114178B3A8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951-4553-94EE-B3114178B3A8}"/>
              </c:ext>
            </c:extLst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951-4553-94EE-B3114178B3A8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951-4553-94EE-B3114178B3A8}"/>
              </c:ext>
            </c:extLst>
          </c:dPt>
          <c:dLbls>
            <c:spPr>
              <a:solidFill>
                <a:schemeClr val="bg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2 Custom '!$D$75:$D$92</c:f>
              <c:strCache>
                <c:ptCount val="17"/>
                <c:pt idx="0">
                  <c:v>7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14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18</c:v>
                </c:pt>
                <c:pt idx="12">
                  <c:v>19</c:v>
                </c:pt>
                <c:pt idx="13">
                  <c:v>20</c:v>
                </c:pt>
                <c:pt idx="14">
                  <c:v>21</c:v>
                </c:pt>
                <c:pt idx="15">
                  <c:v>22</c:v>
                </c:pt>
                <c:pt idx="16">
                  <c:v>23</c:v>
                </c:pt>
              </c:strCache>
            </c:strRef>
          </c:cat>
          <c:val>
            <c:numRef>
              <c:f>'Pivot Tables 2 Custom '!$E$75:$E$92</c:f>
              <c:numCache>
                <c:formatCode>0</c:formatCode>
                <c:ptCount val="17"/>
                <c:pt idx="0">
                  <c:v>43.566666666666684</c:v>
                </c:pt>
                <c:pt idx="1">
                  <c:v>52.561670010509168</c:v>
                </c:pt>
                <c:pt idx="2">
                  <c:v>59.415592273679387</c:v>
                </c:pt>
                <c:pt idx="3">
                  <c:v>52.012835144927607</c:v>
                </c:pt>
                <c:pt idx="4">
                  <c:v>41.769363783020793</c:v>
                </c:pt>
                <c:pt idx="5">
                  <c:v>35.032480405716967</c:v>
                </c:pt>
                <c:pt idx="6">
                  <c:v>43.449882629108004</c:v>
                </c:pt>
                <c:pt idx="7">
                  <c:v>42.170907590759107</c:v>
                </c:pt>
                <c:pt idx="8">
                  <c:v>37.840173253925244</c:v>
                </c:pt>
                <c:pt idx="9">
                  <c:v>27.752788897784885</c:v>
                </c:pt>
                <c:pt idx="10">
                  <c:v>24.972374429223731</c:v>
                </c:pt>
                <c:pt idx="11">
                  <c:v>37.887538461538377</c:v>
                </c:pt>
                <c:pt idx="12">
                  <c:v>38.191369178786502</c:v>
                </c:pt>
                <c:pt idx="13">
                  <c:v>28.333848797250877</c:v>
                </c:pt>
                <c:pt idx="14">
                  <c:v>22.179300000000008</c:v>
                </c:pt>
                <c:pt idx="15">
                  <c:v>16.043207282913169</c:v>
                </c:pt>
                <c:pt idx="16">
                  <c:v>12.792708333333339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951-4553-94EE-B3114178B3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8"/>
        <c:overlap val="-27"/>
        <c:axId val="849108191"/>
        <c:axId val="849103391"/>
      </c:barChart>
      <c:lineChart>
        <c:grouping val="standard"/>
        <c:varyColors val="0"/>
        <c:ser>
          <c:idx val="1"/>
          <c:order val="1"/>
          <c:tx>
            <c:strRef>
              <c:f>'Pivot Tables 2 Custom '!$F$74</c:f>
              <c:strCache>
                <c:ptCount val="1"/>
                <c:pt idx="0">
                  <c:v>No of Patients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'Pivot Tables 2 Custom '!$D$75:$D$92</c:f>
              <c:strCache>
                <c:ptCount val="17"/>
                <c:pt idx="0">
                  <c:v>7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14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18</c:v>
                </c:pt>
                <c:pt idx="12">
                  <c:v>19</c:v>
                </c:pt>
                <c:pt idx="13">
                  <c:v>20</c:v>
                </c:pt>
                <c:pt idx="14">
                  <c:v>21</c:v>
                </c:pt>
                <c:pt idx="15">
                  <c:v>22</c:v>
                </c:pt>
                <c:pt idx="16">
                  <c:v>23</c:v>
                </c:pt>
              </c:strCache>
            </c:strRef>
          </c:cat>
          <c:val>
            <c:numRef>
              <c:f>'Pivot Tables 2 Custom '!$F$75:$F$92</c:f>
              <c:numCache>
                <c:formatCode>General</c:formatCode>
                <c:ptCount val="17"/>
                <c:pt idx="0">
                  <c:v>12</c:v>
                </c:pt>
                <c:pt idx="1">
                  <c:v>3489</c:v>
                </c:pt>
                <c:pt idx="2">
                  <c:v>4297</c:v>
                </c:pt>
                <c:pt idx="3">
                  <c:v>3680</c:v>
                </c:pt>
                <c:pt idx="4">
                  <c:v>3306</c:v>
                </c:pt>
                <c:pt idx="5">
                  <c:v>1446</c:v>
                </c:pt>
                <c:pt idx="6">
                  <c:v>426</c:v>
                </c:pt>
                <c:pt idx="7">
                  <c:v>3030</c:v>
                </c:pt>
                <c:pt idx="8">
                  <c:v>1847</c:v>
                </c:pt>
                <c:pt idx="9">
                  <c:v>1249</c:v>
                </c:pt>
                <c:pt idx="10">
                  <c:v>219</c:v>
                </c:pt>
                <c:pt idx="11">
                  <c:v>2600</c:v>
                </c:pt>
                <c:pt idx="12">
                  <c:v>2269</c:v>
                </c:pt>
                <c:pt idx="13">
                  <c:v>1358</c:v>
                </c:pt>
                <c:pt idx="14">
                  <c:v>500</c:v>
                </c:pt>
                <c:pt idx="15">
                  <c:v>238</c:v>
                </c:pt>
                <c:pt idx="16">
                  <c:v>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F951-4553-94EE-B3114178B3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49078431"/>
        <c:axId val="849099071"/>
      </c:lineChart>
      <c:catAx>
        <c:axId val="849108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849103391"/>
        <c:crosses val="autoZero"/>
        <c:auto val="1"/>
        <c:lblAlgn val="ctr"/>
        <c:lblOffset val="100"/>
        <c:noMultiLvlLbl val="0"/>
      </c:catAx>
      <c:valAx>
        <c:axId val="849103391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849108191"/>
        <c:crosses val="autoZero"/>
        <c:crossBetween val="between"/>
      </c:valAx>
      <c:valAx>
        <c:axId val="84909907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849078431"/>
        <c:crosses val="max"/>
        <c:crossBetween val="between"/>
      </c:valAx>
      <c:catAx>
        <c:axId val="84907843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4909907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0990846449134646"/>
          <c:y val="3.9378589787786814E-2"/>
          <c:w val="0.36578811129344097"/>
          <c:h val="5.99205007829976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Average Time Spent</a:t>
            </a:r>
            <a:r>
              <a:rPr lang="en-US" b="1" baseline="0">
                <a:solidFill>
                  <a:schemeClr val="tx1"/>
                </a:solidFill>
              </a:rPr>
              <a:t> On Process and Consultaiton</a:t>
            </a:r>
            <a:endParaRPr lang="en-PK" b="1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/>
      <c:pieChart>
        <c:varyColors val="1"/>
        <c:ser>
          <c:idx val="0"/>
          <c:order val="0"/>
          <c:explosion val="7"/>
          <c:dPt>
            <c:idx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F62-464A-A6A8-C6204FB726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F62-464A-A6A8-C6204FB726C3}"/>
              </c:ext>
            </c:extLst>
          </c:dPt>
          <c:dLbls>
            <c:dLbl>
              <c:idx val="0"/>
              <c:layout>
                <c:manualLayout>
                  <c:x val="0.11796783952138803"/>
                  <c:y val="-0.1067168898944987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4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96462DC-5FAC-491C-AB86-4288CE552A41}" type="CELLRANGE">
                      <a:rPr lang="en-US" sz="1400" baseline="0"/>
                      <a:pPr>
                        <a:defRPr sz="1400"/>
                      </a:pPr>
                      <a:t>[CELLRANGE]</a:t>
                    </a:fld>
                    <a:r>
                      <a:rPr lang="en-US" sz="1400" baseline="0"/>
                      <a:t>, </a:t>
                    </a:r>
                    <a:fld id="{D29EE55A-BFCF-4FD8-A02A-0647BEE7C4E3}" type="VALUE">
                      <a:rPr lang="en-US" sz="1400" baseline="0"/>
                      <a:pPr>
                        <a:defRPr sz="1400"/>
                      </a:pPr>
                      <a:t>[VALUE]</a:t>
                    </a:fld>
                    <a:endParaRPr lang="en-US" sz="1400" baseline="0"/>
                  </a:p>
                </c:rich>
              </c:tx>
              <c:spPr>
                <a:solidFill>
                  <a:srgbClr val="E6E6E6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090944647710657"/>
                      <c:h val="0.2836450904348615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F62-464A-A6A8-C6204FB726C3}"/>
                </c:ext>
              </c:extLst>
            </c:dLbl>
            <c:dLbl>
              <c:idx val="1"/>
              <c:layout>
                <c:manualLayout>
                  <c:x val="-8.8189855104676501E-2"/>
                  <c:y val="8.250476024552166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8A04574-8704-469D-B878-1408CB7227EB}" type="CELLRANGE">
                      <a:rPr lang="en-US" baseline="0"/>
                      <a:pPr>
                        <a:defRPr sz="1600"/>
                      </a:pPr>
                      <a:t>[CELLRANGE]</a:t>
                    </a:fld>
                    <a:r>
                      <a:rPr lang="en-US" baseline="0"/>
                      <a:t>, </a:t>
                    </a:r>
                    <a:fld id="{9848F31B-2461-4D7A-91DB-6D0C3128F969}" type="VALUE">
                      <a:rPr lang="en-US" baseline="0"/>
                      <a:pPr>
                        <a:defRPr sz="1600"/>
                      </a:pPr>
                      <a:t>[VALUE]</a:t>
                    </a:fld>
                    <a:endParaRPr lang="en-US" baseline="0"/>
                  </a:p>
                </c:rich>
              </c:tx>
              <c:spPr>
                <a:solidFill>
                  <a:srgbClr val="E6E6E6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AF62-464A-A6A8-C6204FB726C3}"/>
                </c:ext>
              </c:extLst>
            </c:dLbl>
            <c:spPr>
              <a:solidFill>
                <a:srgbClr val="E6E6E6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76200" cap="sq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bevel/>
                  <a:headEnd w="lg" len="lg"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Charts!$C$102:$C$103</c:f>
              <c:strCache>
                <c:ptCount val="2"/>
                <c:pt idx="0">
                  <c:v>Average of Consultation Time %</c:v>
                </c:pt>
                <c:pt idx="1">
                  <c:v>Average of Process %</c:v>
                </c:pt>
              </c:strCache>
            </c:strRef>
          </c:cat>
          <c:val>
            <c:numRef>
              <c:f>Charts!$D$102:$D$103</c:f>
              <c:numCache>
                <c:formatCode>0%</c:formatCode>
                <c:ptCount val="2"/>
                <c:pt idx="0">
                  <c:v>0.88208049610677897</c:v>
                </c:pt>
                <c:pt idx="1">
                  <c:v>0.11791950389322102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Charts!$D$100:$D$101</c15:f>
                <c15:dlblRangeCache>
                  <c:ptCount val="2"/>
                  <c:pt idx="0">
                    <c:v>39min,Consultation Time</c:v>
                  </c:pt>
                  <c:pt idx="1">
                    <c:v>5min,Process Time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F62-464A-A6A8-C6204FB726C3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[hospital_data_sample_Analysis.xlsx]Pivot Table 3!PivotTable17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Average Consultation</a:t>
            </a:r>
            <a:r>
              <a:rPr lang="en-US" b="1" baseline="0" dirty="0">
                <a:solidFill>
                  <a:schemeClr val="tx1"/>
                </a:solidFill>
              </a:rPr>
              <a:t> Time and Process Time By Week Day </a:t>
            </a:r>
            <a:endParaRPr lang="en-PK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1328590726870533"/>
          <c:y val="0.111546825650170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FFC000"/>
          </a:solidFill>
          <a:ln>
            <a:noFill/>
          </a:ln>
          <a:effectLst/>
        </c:spP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</c:pivotFmt>
      <c:pivotFmt>
        <c:idx val="9"/>
        <c:spPr>
          <a:solidFill>
            <a:srgbClr val="FFC000"/>
          </a:solidFill>
          <a:ln>
            <a:noFill/>
          </a:ln>
          <a:effectLst/>
        </c:spPr>
      </c:pivotFmt>
      <c:pivotFmt>
        <c:idx val="10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FFC000"/>
          </a:solidFill>
          <a:ln>
            <a:noFill/>
          </a:ln>
          <a:effectLst/>
        </c:spPr>
      </c:pivotFmt>
      <c:pivotFmt>
        <c:idx val="12"/>
        <c:spPr>
          <a:solidFill>
            <a:srgbClr val="FFC000"/>
          </a:solidFill>
          <a:ln>
            <a:noFill/>
          </a:ln>
          <a:effectLst/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FFC000"/>
          </a:solidFill>
          <a:ln>
            <a:noFill/>
          </a:ln>
          <a:effectLst/>
        </c:spPr>
      </c:pivotFmt>
      <c:pivotFmt>
        <c:idx val="16"/>
        <c:spPr>
          <a:solidFill>
            <a:srgbClr val="FFC000"/>
          </a:solidFill>
          <a:ln>
            <a:noFill/>
          </a:ln>
          <a:effectLst/>
        </c:spPr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 3'!$B$3</c:f>
              <c:strCache>
                <c:ptCount val="1"/>
                <c:pt idx="0">
                  <c:v>Average  Consultation Time 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86F-4C9F-8F4C-28176994E1DC}"/>
              </c:ext>
            </c:extLst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86F-4C9F-8F4C-28176994E1DC}"/>
              </c:ext>
            </c:extLst>
          </c:dPt>
          <c:dLbls>
            <c:spPr>
              <a:solidFill>
                <a:schemeClr val="bg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 3'!$A$4:$A$11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'Pivot Table 3'!$B$4:$B$11</c:f>
              <c:numCache>
                <c:formatCode>0.0</c:formatCode>
                <c:ptCount val="7"/>
                <c:pt idx="0">
                  <c:v>29.094736497973127</c:v>
                </c:pt>
                <c:pt idx="1">
                  <c:v>43.734896877685301</c:v>
                </c:pt>
                <c:pt idx="2">
                  <c:v>37.671057410661959</c:v>
                </c:pt>
                <c:pt idx="3">
                  <c:v>41.889143290977529</c:v>
                </c:pt>
                <c:pt idx="4">
                  <c:v>37.738845242548997</c:v>
                </c:pt>
                <c:pt idx="5">
                  <c:v>37.805623264946988</c:v>
                </c:pt>
                <c:pt idx="6">
                  <c:v>37.13376522702098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6F-4C9F-8F4C-28176994E1DC}"/>
            </c:ext>
          </c:extLst>
        </c:ser>
        <c:ser>
          <c:idx val="1"/>
          <c:order val="1"/>
          <c:tx>
            <c:strRef>
              <c:f>'Pivot Table 3'!$C$3</c:f>
              <c:strCache>
                <c:ptCount val="1"/>
                <c:pt idx="0">
                  <c:v>Average  Process Time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 3'!$A$4:$A$11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'Pivot Table 3'!$C$4:$C$11</c:f>
              <c:numCache>
                <c:formatCode>0.0</c:formatCode>
                <c:ptCount val="7"/>
                <c:pt idx="0">
                  <c:v>3.6588335294886885</c:v>
                </c:pt>
                <c:pt idx="1">
                  <c:v>5.4346557815334471</c:v>
                </c:pt>
                <c:pt idx="2">
                  <c:v>4.7856063268892424</c:v>
                </c:pt>
                <c:pt idx="3">
                  <c:v>5.0268081195556134</c:v>
                </c:pt>
                <c:pt idx="4">
                  <c:v>4.7321112358149282</c:v>
                </c:pt>
                <c:pt idx="5">
                  <c:v>4.6762103053693052</c:v>
                </c:pt>
                <c:pt idx="6">
                  <c:v>5.3657364341085163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86F-4C9F-8F4C-28176994E1D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49053471"/>
        <c:axId val="849057791"/>
      </c:barChart>
      <c:catAx>
        <c:axId val="849053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849057791"/>
        <c:crosses val="autoZero"/>
        <c:auto val="1"/>
        <c:lblAlgn val="ctr"/>
        <c:lblOffset val="100"/>
        <c:noMultiLvlLbl val="0"/>
      </c:catAx>
      <c:valAx>
        <c:axId val="849057791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849053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6636696417443356"/>
          <c:y val="2.4714593558115935E-2"/>
          <c:w val="0.46726607165113287"/>
          <c:h val="5.88239330521423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D794A-17F4-48F7-A14F-39DCAE091952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DFAA7-D3C3-4D01-9299-453E25D16D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C6A87-CC60-415C-BFEE-13D1CAD6861A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51814-3B91-4036-94D2-3977634EE2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6610" y="4079083"/>
            <a:ext cx="5318781" cy="97631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079083"/>
            <a:ext cx="4416424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10507" y="5130801"/>
            <a:ext cx="9242424" cy="5334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anchor="ctr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anchor="ctr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6168473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Picture Placeholder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1" name="Picture Placeholder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9" name="Chart Placeholder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Hospital Wait Time Analysis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6D24F99-E026-485A-96CD-AEC9813726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Amish Ilyas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FE52127D-846A-3CC7-7D36-77D66F58304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4879" r="487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3494C0-ABDD-4C4D-8C46-49B8F20CC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2173" y="3250267"/>
            <a:ext cx="7094508" cy="536729"/>
          </a:xfrm>
        </p:spPr>
        <p:txBody>
          <a:bodyPr>
            <a:normAutofit fontScale="90000"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622C3-EE4F-4FB9-94FB-55056352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2</a:t>
            </a:fld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DE860BC-070C-49AE-AF30-7F05D5940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01537" y="251725"/>
            <a:ext cx="8660381" cy="2749554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84073B8-9EDE-BF28-2CFC-67467790242F}"/>
              </a:ext>
            </a:extLst>
          </p:cNvPr>
          <p:cNvSpPr/>
          <p:nvPr/>
        </p:nvSpPr>
        <p:spPr>
          <a:xfrm>
            <a:off x="5650302" y="3890513"/>
            <a:ext cx="1095555" cy="536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3A6E9B-3657-4AA2-D1D8-3B73BC06FD7B}"/>
              </a:ext>
            </a:extLst>
          </p:cNvPr>
          <p:cNvSpPr txBox="1"/>
          <p:nvPr/>
        </p:nvSpPr>
        <p:spPr>
          <a:xfrm>
            <a:off x="1095555" y="4157932"/>
            <a:ext cx="87299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Technique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Analysis and Insights </a:t>
            </a:r>
            <a:endParaRPr lang="en-PK" sz="2800" b="1" dirty="0"/>
          </a:p>
        </p:txBody>
      </p:sp>
    </p:spTree>
    <p:extLst>
      <p:ext uri="{BB962C8B-B14F-4D97-AF65-F5344CB8AC3E}">
        <p14:creationId xmlns:p14="http://schemas.microsoft.com/office/powerpoint/2010/main" val="3462884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704403"/>
          </a:xfrm>
        </p:spPr>
        <p:txBody>
          <a:bodyPr/>
          <a:lstStyle/>
          <a:p>
            <a:r>
              <a:rPr lang="en-US" b="1" dirty="0"/>
              <a:t>The Clinic Has Got Several Complaints about Wait Time.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3</a:t>
            </a:fld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18DD966-19F0-4350-AC58-AE86C210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B6B7A7-5903-886C-7233-DFB9BC7668E2}"/>
              </a:ext>
            </a:extLst>
          </p:cNvPr>
          <p:cNvSpPr txBox="1"/>
          <p:nvPr/>
        </p:nvSpPr>
        <p:spPr>
          <a:xfrm>
            <a:off x="6619197" y="4175185"/>
            <a:ext cx="397404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+mj-lt"/>
                <a:ea typeface="+mj-ea"/>
                <a:cs typeface="+mj-cs"/>
              </a:rPr>
              <a:t>Task</a:t>
            </a:r>
            <a:r>
              <a:rPr lang="en-US" dirty="0"/>
              <a:t>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Analysis , Hypothesis on Wait Time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00311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EF48F30-BEB4-44C7-9F35-3BBB61CF8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from Management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0433D-E380-4571-991C-16B6CE7A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4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1B8DC8C-1FD7-4773-B07E-7E4432766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05439" y="3728863"/>
            <a:ext cx="5582064" cy="518457"/>
          </a:xfrm>
        </p:spPr>
        <p:txBody>
          <a:bodyPr>
            <a:normAutofit/>
          </a:bodyPr>
          <a:lstStyle/>
          <a:p>
            <a:r>
              <a:rPr lang="en-US" sz="2400" dirty="0"/>
              <a:t>Why are We Getting These Complaints ?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B253683-524F-46CF-BFCD-BFF6A7A92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40224" y="4445728"/>
            <a:ext cx="5582064" cy="1953455"/>
          </a:xfrm>
        </p:spPr>
        <p:txBody>
          <a:bodyPr/>
          <a:lstStyle/>
          <a:p>
            <a:r>
              <a:rPr lang="en-US" b="1" dirty="0"/>
              <a:t>Do We Have Staffing Issues ? </a:t>
            </a:r>
          </a:p>
          <a:p>
            <a:pPr marR="0" lvl="0">
              <a:spcAft>
                <a:spcPts val="800"/>
              </a:spcAft>
            </a:pPr>
            <a:r>
              <a:rPr lang="en-PK" b="1" dirty="0"/>
              <a:t>Are these Complaints legitimate ?</a:t>
            </a:r>
          </a:p>
          <a:p>
            <a:r>
              <a:rPr lang="en-US" b="1" dirty="0"/>
              <a:t>Are We Too Busy ?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D68F9DE-C9CE-2CFC-4E3C-0EB803B26F8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260" b="-427"/>
          <a:stretch/>
        </p:blipFill>
        <p:spPr>
          <a:xfrm>
            <a:off x="2905439" y="935222"/>
            <a:ext cx="5582064" cy="2493778"/>
          </a:xfrm>
        </p:spPr>
      </p:pic>
    </p:spTree>
    <p:extLst>
      <p:ext uri="{BB962C8B-B14F-4D97-AF65-F5344CB8AC3E}">
        <p14:creationId xmlns:p14="http://schemas.microsoft.com/office/powerpoint/2010/main" val="1154969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6BEE08E-D5C0-42E2-AB73-7CCC07B72E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78788" y="112144"/>
            <a:ext cx="9947695" cy="5805577"/>
          </a:xfrm>
        </p:spPr>
        <p:txBody>
          <a:bodyPr/>
          <a:lstStyle/>
          <a:p>
            <a:pPr marL="457200" marR="0">
              <a:lnSpc>
                <a:spcPct val="115000"/>
              </a:lnSpc>
              <a:buNone/>
            </a:pPr>
            <a:r>
              <a:rPr lang="en-US" sz="4000" kern="100" dirty="0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Technique 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PK" sz="2800" kern="100" dirty="0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Develop Insights ? (W.H.W)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PK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PK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buNone/>
            </a:pPr>
            <a:r>
              <a:rPr lang="en-PK" sz="1800" b="1" kern="100" dirty="0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What are Business Goals ? </a:t>
            </a:r>
            <a:endParaRPr lang="en-PK" sz="1800" kern="100" dirty="0">
              <a:solidFill>
                <a:schemeClr val="tx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buNone/>
            </a:pPr>
            <a:r>
              <a:rPr lang="en-PK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PK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Fix Long Waiting Time Issue</a:t>
            </a:r>
            <a:r>
              <a:rPr lang="en-PK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PK" sz="1800" b="1" kern="100" dirty="0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What is our metric of Success or Failure ?</a:t>
            </a:r>
            <a:endParaRPr lang="en-PK" sz="1800" kern="100" dirty="0">
              <a:solidFill>
                <a:schemeClr val="tx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buNone/>
            </a:pPr>
            <a:r>
              <a:rPr lang="en-PK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PK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Wait time</a:t>
            </a:r>
            <a:r>
              <a:rPr lang="en-PK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PK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buNone/>
            </a:pPr>
            <a:r>
              <a:rPr lang="en-PK" sz="1800" b="1" kern="100" dirty="0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 What are the Trends ? (positive or negative )</a:t>
            </a:r>
            <a:endParaRPr lang="en-PK" sz="1800" kern="100" dirty="0">
              <a:solidFill>
                <a:schemeClr val="tx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buNone/>
            </a:pPr>
            <a:r>
              <a:rPr lang="en-PK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PK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PK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Day of Week when wait time increase </a:t>
            </a:r>
            <a:endParaRPr lang="en-PK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PK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 of Day when wait time increases </a:t>
            </a:r>
            <a:endParaRPr lang="en-PK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0BEB88-12D3-41F1-B6BA-706EF7480FD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18938" y="6581775"/>
            <a:ext cx="373062" cy="206375"/>
          </a:xfrm>
        </p:spPr>
        <p:txBody>
          <a:bodyPr/>
          <a:lstStyle/>
          <a:p>
            <a:fld id="{03DC2DEF-D2FE-4B45-ABA4-9F153FD1C98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670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DC82C-93E5-8BC6-E211-A6B4B3492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581513-381C-E779-1CEF-CBAC3011F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5410" y="3310652"/>
            <a:ext cx="8478869" cy="2857235"/>
          </a:xfrm>
        </p:spPr>
        <p:txBody>
          <a:bodyPr>
            <a:normAutofit/>
          </a:bodyPr>
          <a:lstStyle/>
          <a:p>
            <a:r>
              <a:rPr lang="en-US" dirty="0"/>
              <a:t>Analysis and Insights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8C60C4-EBAA-5970-5C19-C7BEBD0DE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6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A56E2E-BC5A-7E72-33B9-1D97CE56E82A}"/>
              </a:ext>
            </a:extLst>
          </p:cNvPr>
          <p:cNvSpPr/>
          <p:nvPr/>
        </p:nvSpPr>
        <p:spPr>
          <a:xfrm>
            <a:off x="5650302" y="3890513"/>
            <a:ext cx="1095555" cy="536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A027072E-0993-CE04-B1B9-CAC5EBA026A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4612" b="47396"/>
          <a:stretch/>
        </p:blipFill>
        <p:spPr>
          <a:xfrm>
            <a:off x="1812088" y="355670"/>
            <a:ext cx="7948880" cy="2523661"/>
          </a:xfrm>
        </p:spPr>
      </p:pic>
    </p:spTree>
    <p:extLst>
      <p:ext uri="{BB962C8B-B14F-4D97-AF65-F5344CB8AC3E}">
        <p14:creationId xmlns:p14="http://schemas.microsoft.com/office/powerpoint/2010/main" val="2785973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2C00B059-8249-401E-BECD-DC838B36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Class and Average Wait Time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E71C2-3FC1-41C1-8255-33A1AC80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7</a:t>
            </a:fld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D42596E-DB09-43F7-A053-18CEB2DDE6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Medicare Class Patients has most Wait Average Time      58 Min Patients are very less 0.98% so that maybe is not a good representative of Population. </a:t>
            </a:r>
          </a:p>
          <a:p>
            <a:r>
              <a:rPr lang="en-US" dirty="0"/>
              <a:t>Corporate and HMO Class Patients are taking 46 Min Average Wait time which is Average Wait time of Whole Population . </a:t>
            </a:r>
            <a:r>
              <a:rPr lang="en-US" dirty="0">
                <a:highlight>
                  <a:srgbClr val="000000"/>
                </a:highlight>
              </a:rPr>
              <a:t>Financial Class does not significantly change the weight times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2645B5D-BDC9-4782-9F6C-97F16627C3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8212590"/>
              </p:ext>
            </p:extLst>
          </p:nvPr>
        </p:nvGraphicFramePr>
        <p:xfrm>
          <a:off x="5841354" y="1920081"/>
          <a:ext cx="5150303" cy="3614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00026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F103E-5AFA-C528-228D-0F2BAB67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41229B8-3DDB-8573-98B8-C2BF62986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Days of Week are Getting Affected 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FB8290-B079-458C-FE07-8EEE951FD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8</a:t>
            </a:fld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A431FCD-DF52-D265-BB26-ACBF3B7B23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Monday has The Highest Average Wait Time 49 Min also patients are highest on Monday 6982 . Need To Allocate More Staff on Monday to Reduce Wait Time.</a:t>
            </a:r>
          </a:p>
          <a:p>
            <a:r>
              <a:rPr lang="en-US" dirty="0"/>
              <a:t>On Wednesday Patients are less 4171 but Average Wait time is 47 Min which is more as compared to other Days . That needs to be Looked 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9F473A4-9489-468D-A69F-DED8CD025C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598648"/>
              </p:ext>
            </p:extLst>
          </p:nvPr>
        </p:nvGraphicFramePr>
        <p:xfrm>
          <a:off x="4934310" y="1417276"/>
          <a:ext cx="7095675" cy="4242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65902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69642-10AB-5CA7-3177-3EDC8FC8A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6D8E4264-158A-DEDB-5C52-9A9DC9F69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Hour Of Day and Wait Time By No of Patients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969BD2-02C2-7EE3-2732-C4C07AC9D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9</a:t>
            </a:fld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55DB729-7007-1E65-97F9-1B0C0A849E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Hours from 8 am to 10 am are most Critical as No of patients and Average wait time both are High</a:t>
            </a:r>
          </a:p>
          <a:p>
            <a:r>
              <a:rPr lang="en-US" dirty="0"/>
              <a:t>We must make sure during 8 am to 10 am Staff is allocated more so that we can decrease the Average wait Time . 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A7401E0-0568-4D1F-9734-FFEB76CC5C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2529828"/>
              </p:ext>
            </p:extLst>
          </p:nvPr>
        </p:nvGraphicFramePr>
        <p:xfrm>
          <a:off x="5022004" y="1640680"/>
          <a:ext cx="6978785" cy="3576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49035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CD8B5-971D-8223-6DBB-9F516B33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0079AE6E-8696-EAF3-7AB4-449B8265C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We Need Staff 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C831AE-0D4D-096D-5C54-13B8F463E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10</a:t>
            </a:fld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DEDBCE1-CCC1-A4EB-D6FE-86999E0BA3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We Need to Focus the Staffing on Consultation because Most of the Time is spent there by Patients waiting to see the Doctor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A7408F8-66DA-A9AC-9F4B-CB1A3B71FF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4225421"/>
              </p:ext>
            </p:extLst>
          </p:nvPr>
        </p:nvGraphicFramePr>
        <p:xfrm>
          <a:off x="5205991" y="1432409"/>
          <a:ext cx="6228628" cy="39931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03689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696A5-8C0E-DC8B-8FEB-DBD785556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C6BFD028-767B-4F37-2C80-7737306A6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We Need Staff 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097C52-D53E-9E37-6BD2-4FB0AEA0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11</a:t>
            </a:fld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D8607E8-CCAD-9AE9-F3E9-95F168D297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It is clear that Monday and Wednesday are having most Average Consultation Time Need to align proper staffing during these days.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A666CE6-38C7-49F5-A12D-CA92B84A49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2111389"/>
              </p:ext>
            </p:extLst>
          </p:nvPr>
        </p:nvGraphicFramePr>
        <p:xfrm>
          <a:off x="5147621" y="1736739"/>
          <a:ext cx="6658537" cy="3643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14602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B6F74-6A2C-F354-548F-64463E94F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6B18F3-5D37-0E91-FFA8-306992D59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5410" y="3310652"/>
            <a:ext cx="8478869" cy="2857235"/>
          </a:xfrm>
        </p:spPr>
        <p:txBody>
          <a:bodyPr>
            <a:normAutofit/>
          </a:bodyPr>
          <a:lstStyle/>
          <a:p>
            <a:r>
              <a:rPr lang="en-US" dirty="0"/>
              <a:t>Thanks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49D203-A224-71A7-8E7D-A49D6B765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12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26FC4B-E37A-E955-6386-DD44500AF979}"/>
              </a:ext>
            </a:extLst>
          </p:cNvPr>
          <p:cNvSpPr/>
          <p:nvPr/>
        </p:nvSpPr>
        <p:spPr>
          <a:xfrm>
            <a:off x="5650302" y="3890513"/>
            <a:ext cx="1095555" cy="536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2D32B30-9141-787C-AE66-417F31D74D9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620" t="1057" r="945" b="22027"/>
          <a:stretch/>
        </p:blipFill>
        <p:spPr>
          <a:xfrm>
            <a:off x="3172973" y="279883"/>
            <a:ext cx="6235309" cy="3248198"/>
          </a:xfrm>
        </p:spPr>
      </p:pic>
    </p:spTree>
    <p:extLst>
      <p:ext uri="{BB962C8B-B14F-4D97-AF65-F5344CB8AC3E}">
        <p14:creationId xmlns:p14="http://schemas.microsoft.com/office/powerpoint/2010/main" val="3936140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itle goes here" id="{A4715F0E-2373-46DF-8650-9CD6D2E73FF4}" vid="{7AE24D49-249C-4823-B15D-D301F3E6335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Classic bold block presentation</Template>
  <TotalTime>107</TotalTime>
  <Words>433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Symbol</vt:lpstr>
      <vt:lpstr>Office Theme</vt:lpstr>
      <vt:lpstr>Hospital Wait Time Analysis</vt:lpstr>
      <vt:lpstr>AGENDA</vt:lpstr>
      <vt:lpstr>Problem Statement</vt:lpstr>
      <vt:lpstr>Question from Management</vt:lpstr>
      <vt:lpstr>PowerPoint Presentation</vt:lpstr>
      <vt:lpstr>Analysis and Insights </vt:lpstr>
      <vt:lpstr>Financial Class and Average Wait Time </vt:lpstr>
      <vt:lpstr>What Days of Week are Getting Affected ? </vt:lpstr>
      <vt:lpstr>Hour Of Day and Wait Time By No of Patients </vt:lpstr>
      <vt:lpstr>Where Do We Need Staff ? </vt:lpstr>
      <vt:lpstr>Where Do We Need Staff ? </vt:lpstr>
      <vt:lpstr>Thanks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Amish ilyas</dc:creator>
  <cp:lastModifiedBy>Amish ilyas</cp:lastModifiedBy>
  <cp:revision>1</cp:revision>
  <dcterms:created xsi:type="dcterms:W3CDTF">2025-04-07T13:39:44Z</dcterms:created>
  <dcterms:modified xsi:type="dcterms:W3CDTF">2025-04-07T15:27:40Z</dcterms:modified>
</cp:coreProperties>
</file>