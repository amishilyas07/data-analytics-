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Bebas Neue Bold" charset="1" panose="020B0606020202050201"/>
      <p:regular r:id="rId20"/>
    </p:embeddedFont>
    <p:embeddedFont>
      <p:font typeface="Proxima Nova" charset="1" panose="02000506030000020004"/>
      <p:regular r:id="rId21"/>
    </p:embeddedFont>
    <p:embeddedFont>
      <p:font typeface="Bebas Neue" charset="1" panose="00000500000000000000"/>
      <p:regular r:id="rId22"/>
    </p:embeddedFont>
    <p:embeddedFont>
      <p:font typeface="Proxima Nova Bold" charset="1" panose="02000506030000020004"/>
      <p:regular r:id="rId23"/>
    </p:embeddedFont>
    <p:embeddedFont>
      <p:font typeface="Canva Sans Bold" charset="1" panose="020B0803030501040103"/>
      <p:regular r:id="rId24"/>
    </p:embeddedFont>
    <p:embeddedFont>
      <p:font typeface="Canva Sans" charset="1" panose="020B0503030501040103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jpeg" Type="http://schemas.openxmlformats.org/officeDocument/2006/relationships/image"/><Relationship Id="rId3" Target="../media/image25.jpe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1444978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4978" cy="812800"/>
            </a:xfrm>
            <a:custGeom>
              <a:avLst/>
              <a:gdLst/>
              <a:ahLst/>
              <a:cxnLst/>
              <a:rect r="r" b="b" t="t" l="l"/>
              <a:pathLst>
                <a:path h="812800" w="1444978">
                  <a:moveTo>
                    <a:pt x="9737" y="0"/>
                  </a:moveTo>
                  <a:lnTo>
                    <a:pt x="1435241" y="0"/>
                  </a:lnTo>
                  <a:cubicBezTo>
                    <a:pt x="1437823" y="0"/>
                    <a:pt x="1440300" y="1026"/>
                    <a:pt x="1442126" y="2852"/>
                  </a:cubicBezTo>
                  <a:cubicBezTo>
                    <a:pt x="1443952" y="4678"/>
                    <a:pt x="1444978" y="7154"/>
                    <a:pt x="1444978" y="9737"/>
                  </a:cubicBezTo>
                  <a:lnTo>
                    <a:pt x="1444978" y="803063"/>
                  </a:lnTo>
                  <a:cubicBezTo>
                    <a:pt x="1444978" y="808441"/>
                    <a:pt x="1440619" y="812800"/>
                    <a:pt x="1435241" y="812800"/>
                  </a:cubicBezTo>
                  <a:lnTo>
                    <a:pt x="9737" y="812800"/>
                  </a:lnTo>
                  <a:cubicBezTo>
                    <a:pt x="4359" y="812800"/>
                    <a:pt x="0" y="808441"/>
                    <a:pt x="0" y="803063"/>
                  </a:cubicBezTo>
                  <a:lnTo>
                    <a:pt x="0" y="9737"/>
                  </a:lnTo>
                  <a:cubicBezTo>
                    <a:pt x="0" y="4359"/>
                    <a:pt x="4359" y="0"/>
                    <a:pt x="9737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8666" r="0" b="-866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909661" y="674926"/>
            <a:ext cx="11937141" cy="3756138"/>
            <a:chOff x="0" y="0"/>
            <a:chExt cx="3143938" cy="9892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143938" cy="989271"/>
            </a:xfrm>
            <a:custGeom>
              <a:avLst/>
              <a:gdLst/>
              <a:ahLst/>
              <a:cxnLst/>
              <a:rect r="r" b="b" t="t" l="l"/>
              <a:pathLst>
                <a:path h="989271" w="3143938">
                  <a:moveTo>
                    <a:pt x="0" y="0"/>
                  </a:moveTo>
                  <a:lnTo>
                    <a:pt x="3143938" y="0"/>
                  </a:lnTo>
                  <a:lnTo>
                    <a:pt x="3143938" y="989271"/>
                  </a:lnTo>
                  <a:lnTo>
                    <a:pt x="0" y="9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61950" cap="sq">
              <a:solidFill>
                <a:srgbClr val="48BAC3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143938" cy="10273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68603" y="9102687"/>
            <a:ext cx="3660811" cy="867316"/>
            <a:chOff x="0" y="0"/>
            <a:chExt cx="964164" cy="22842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64164" cy="228429"/>
            </a:xfrm>
            <a:custGeom>
              <a:avLst/>
              <a:gdLst/>
              <a:ahLst/>
              <a:cxnLst/>
              <a:rect r="r" b="b" t="t" l="l"/>
              <a:pathLst>
                <a:path h="228429" w="964164">
                  <a:moveTo>
                    <a:pt x="0" y="0"/>
                  </a:moveTo>
                  <a:lnTo>
                    <a:pt x="964164" y="0"/>
                  </a:lnTo>
                  <a:lnTo>
                    <a:pt x="964164" y="228429"/>
                  </a:lnTo>
                  <a:lnTo>
                    <a:pt x="0" y="228429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64164" cy="266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450171" y="2100577"/>
            <a:ext cx="10856121" cy="1266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36"/>
              </a:lnSpc>
            </a:pPr>
            <a:r>
              <a:rPr lang="en-US" sz="10646">
                <a:solidFill>
                  <a:srgbClr val="0000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MEDICAL COST ANALYSIS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88357" y="9366483"/>
            <a:ext cx="3421305" cy="47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9"/>
              </a:lnSpc>
            </a:pPr>
            <a:r>
              <a:rPr lang="en-US" sz="3999" spc="271">
                <a:solidFill>
                  <a:srgbClr val="292929"/>
                </a:solidFill>
                <a:latin typeface="Proxima Nova"/>
                <a:ea typeface="Proxima Nova"/>
                <a:cs typeface="Proxima Nova"/>
                <a:sym typeface="Proxima Nova"/>
              </a:rPr>
              <a:t>AMISH ILYAS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4775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7FDF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2070676" y="3669999"/>
            <a:ext cx="13657057" cy="0"/>
          </a:xfrm>
          <a:prstGeom prst="line">
            <a:avLst/>
          </a:prstGeom>
          <a:ln cap="flat" w="38100">
            <a:solidFill>
              <a:srgbClr val="48BAC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2070676" y="4376833"/>
            <a:ext cx="6178349" cy="4611069"/>
            <a:chOff x="0" y="0"/>
            <a:chExt cx="1627219" cy="121443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27219" cy="1214438"/>
            </a:xfrm>
            <a:custGeom>
              <a:avLst/>
              <a:gdLst/>
              <a:ahLst/>
              <a:cxnLst/>
              <a:rect r="r" b="b" t="t" l="l"/>
              <a:pathLst>
                <a:path h="1214438" w="1627219">
                  <a:moveTo>
                    <a:pt x="0" y="0"/>
                  </a:moveTo>
                  <a:lnTo>
                    <a:pt x="1627219" y="0"/>
                  </a:lnTo>
                  <a:lnTo>
                    <a:pt x="1627219" y="1214438"/>
                  </a:lnTo>
                  <a:lnTo>
                    <a:pt x="0" y="12144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48BAC3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627219" cy="1252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885311" y="3650949"/>
            <a:ext cx="7020946" cy="5089775"/>
            <a:chOff x="0" y="0"/>
            <a:chExt cx="1242168" cy="90049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42168" cy="900499"/>
            </a:xfrm>
            <a:custGeom>
              <a:avLst/>
              <a:gdLst/>
              <a:ahLst/>
              <a:cxnLst/>
              <a:rect r="r" b="b" t="t" l="l"/>
              <a:pathLst>
                <a:path h="900499" w="1242168">
                  <a:moveTo>
                    <a:pt x="0" y="0"/>
                  </a:moveTo>
                  <a:lnTo>
                    <a:pt x="1242168" y="0"/>
                  </a:lnTo>
                  <a:lnTo>
                    <a:pt x="1242168" y="900499"/>
                  </a:lnTo>
                  <a:lnTo>
                    <a:pt x="0" y="900499"/>
                  </a:lnTo>
                  <a:close/>
                </a:path>
              </a:pathLst>
            </a:custGeom>
            <a:blipFill>
              <a:blip r:embed="rId3"/>
              <a:stretch>
                <a:fillRect l="-22494" t="0" r="-22494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070676" y="2362533"/>
            <a:ext cx="4993885" cy="1288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30"/>
              </a:lnSpc>
            </a:pPr>
            <a:r>
              <a:rPr lang="en-US" sz="11000">
                <a:solidFill>
                  <a:srgbClr val="292929"/>
                </a:solidFill>
                <a:latin typeface="Bebas Neue"/>
                <a:ea typeface="Bebas Neue"/>
                <a:cs typeface="Bebas Neue"/>
                <a:sym typeface="Bebas Neue"/>
              </a:rPr>
              <a:t>AGENDA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37667" y="4882618"/>
            <a:ext cx="4034558" cy="390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8" indent="-323849" lvl="1">
              <a:lnSpc>
                <a:spcPts val="2999"/>
              </a:lnSpc>
              <a:buFont typeface="Arial"/>
              <a:buChar char="•"/>
            </a:pPr>
            <a:r>
              <a:rPr lang="en-US" sz="2999">
                <a:solidFill>
                  <a:srgbClr val="2D3541"/>
                </a:solidFill>
                <a:latin typeface="Proxima Nova"/>
                <a:ea typeface="Proxima Nova"/>
                <a:cs typeface="Proxima Nova"/>
                <a:sym typeface="Proxima Nova"/>
              </a:rPr>
              <a:t>Problem Statement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37667" y="7930260"/>
            <a:ext cx="2722183" cy="390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8" indent="-323849" lvl="1">
              <a:lnSpc>
                <a:spcPts val="2999"/>
              </a:lnSpc>
              <a:buFont typeface="Arial"/>
              <a:buChar char="•"/>
            </a:pPr>
            <a:r>
              <a:rPr lang="en-US" sz="2999">
                <a:solidFill>
                  <a:srgbClr val="2D3541"/>
                </a:solidFill>
                <a:latin typeface="Proxima Nova"/>
                <a:ea typeface="Proxima Nova"/>
                <a:cs typeface="Proxima Nova"/>
                <a:sym typeface="Proxima Nova"/>
              </a:rPr>
              <a:t>Insights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437667" y="6475978"/>
            <a:ext cx="3250760" cy="390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8" indent="-323849" lvl="1">
              <a:lnSpc>
                <a:spcPts val="2999"/>
              </a:lnSpc>
              <a:buFont typeface="Arial"/>
              <a:buChar char="•"/>
            </a:pPr>
            <a:r>
              <a:rPr lang="en-US" sz="2999">
                <a:solidFill>
                  <a:srgbClr val="2D3541"/>
                </a:solidFill>
                <a:latin typeface="Proxima Nova"/>
                <a:ea typeface="Proxima Nova"/>
                <a:cs typeface="Proxima Nova"/>
                <a:sym typeface="Proxima Nova"/>
              </a:rPr>
              <a:t>Dashboards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437667" y="5679298"/>
            <a:ext cx="5614665" cy="390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8" indent="-323849" lvl="1">
              <a:lnSpc>
                <a:spcPts val="2999"/>
              </a:lnSpc>
              <a:buFont typeface="Arial"/>
              <a:buChar char="•"/>
            </a:pPr>
            <a:r>
              <a:rPr lang="en-US" sz="2999">
                <a:solidFill>
                  <a:srgbClr val="2D3541"/>
                </a:solidFill>
                <a:latin typeface="Proxima Nova"/>
                <a:ea typeface="Proxima Nova"/>
                <a:cs typeface="Proxima Nova"/>
                <a:sym typeface="Proxima Nova"/>
              </a:rPr>
              <a:t>Dataset Overview and Tools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437667" y="7272658"/>
            <a:ext cx="4034558" cy="390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8" indent="-323849" lvl="1">
              <a:lnSpc>
                <a:spcPts val="2999"/>
              </a:lnSpc>
              <a:buFont typeface="Arial"/>
              <a:buChar char="•"/>
            </a:pPr>
            <a:r>
              <a:rPr lang="en-US" sz="2999">
                <a:solidFill>
                  <a:srgbClr val="2D3541"/>
                </a:solidFill>
                <a:latin typeface="Proxima Nova"/>
                <a:ea typeface="Proxima Nova"/>
                <a:cs typeface="Proxima Nova"/>
                <a:sym typeface="Proxima Nova"/>
              </a:rPr>
              <a:t>Hypothesis Testing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437667" y="8483313"/>
            <a:ext cx="325076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8" indent="-323849" lvl="1">
              <a:lnSpc>
                <a:spcPts val="2999"/>
              </a:lnSpc>
              <a:buFont typeface="Arial"/>
              <a:buChar char="•"/>
            </a:pPr>
            <a:r>
              <a:rPr lang="en-US" sz="2999">
                <a:solidFill>
                  <a:srgbClr val="2D3541"/>
                </a:solidFill>
                <a:latin typeface="Proxima Nova"/>
                <a:ea typeface="Proxima Nova"/>
                <a:cs typeface="Proxima Nova"/>
                <a:sym typeface="Proxima Nova"/>
              </a:rPr>
              <a:t>Contact Info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784750"/>
            <a:chOff x="0" y="0"/>
            <a:chExt cx="4816593" cy="4700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70058"/>
            </a:xfrm>
            <a:custGeom>
              <a:avLst/>
              <a:gdLst/>
              <a:ahLst/>
              <a:cxnLst/>
              <a:rect r="r" b="b" t="t" l="l"/>
              <a:pathLst>
                <a:path h="47005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70058"/>
                  </a:lnTo>
                  <a:lnTo>
                    <a:pt x="0" y="470058"/>
                  </a:lnTo>
                  <a:close/>
                </a:path>
              </a:pathLst>
            </a:custGeom>
            <a:solidFill>
              <a:srgbClr val="2D354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5081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0" y="2242234"/>
            <a:ext cx="6771551" cy="6771524"/>
            <a:chOff x="0" y="0"/>
            <a:chExt cx="6350025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26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26">
                  <a:moveTo>
                    <a:pt x="0" y="0"/>
                  </a:moveTo>
                  <a:lnTo>
                    <a:pt x="6350026" y="0"/>
                  </a:lnTo>
                  <a:lnTo>
                    <a:pt x="6350026" y="6350000"/>
                  </a:lnTo>
                  <a:lnTo>
                    <a:pt x="0" y="6350000"/>
                  </a:lnTo>
                  <a:close/>
                </a:path>
              </a:pathLst>
            </a:custGeom>
            <a:blipFill>
              <a:blip r:embed="rId2"/>
              <a:stretch>
                <a:fillRect l="0" t="0" r="-77418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5359608" y="688350"/>
            <a:ext cx="6775548" cy="947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0"/>
              </a:lnSpc>
            </a:pPr>
            <a:r>
              <a:rPr lang="en-US" sz="8000">
                <a:solidFill>
                  <a:srgbClr val="F7FDFE"/>
                </a:solidFill>
                <a:latin typeface="Bebas Neue"/>
                <a:ea typeface="Bebas Neue"/>
                <a:cs typeface="Bebas Neue"/>
                <a:sym typeface="Bebas Neue"/>
              </a:rPr>
              <a:t>PROBLEM STATEMENT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58184" y="2485651"/>
            <a:ext cx="9562831" cy="2677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3639">
                <a:solidFill>
                  <a:srgbClr val="211F2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Problem Statement:</a:t>
            </a:r>
            <a:r>
              <a:rPr lang="en-US" sz="3639">
                <a:solidFill>
                  <a:srgbClr val="211F20"/>
                </a:solidFill>
                <a:latin typeface="Proxima Nova"/>
                <a:ea typeface="Proxima Nova"/>
                <a:cs typeface="Proxima Nova"/>
                <a:sym typeface="Proxima Nova"/>
              </a:rPr>
              <a:t> What are the key factors that significantly impact medical costs for individuals?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558184" y="5639158"/>
            <a:ext cx="9562831" cy="3374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9"/>
              </a:lnSpc>
            </a:pPr>
            <a:r>
              <a:rPr lang="en-US" sz="3439">
                <a:solidFill>
                  <a:srgbClr val="211F2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Objective</a:t>
            </a:r>
            <a:r>
              <a:rPr lang="en-US" sz="3439">
                <a:solidFill>
                  <a:srgbClr val="211F20"/>
                </a:solidFill>
                <a:latin typeface="Proxima Nova"/>
                <a:ea typeface="Proxima Nova"/>
                <a:cs typeface="Proxima Nova"/>
                <a:sym typeface="Proxima Nova"/>
              </a:rPr>
              <a:t>: Perform an exploratory data analysis to identify which factors (e.g., age, BMI, smoking status) are most strongly correlated with high medical costs.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784750"/>
            <a:chOff x="0" y="0"/>
            <a:chExt cx="4816593" cy="4700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70058"/>
            </a:xfrm>
            <a:custGeom>
              <a:avLst/>
              <a:gdLst/>
              <a:ahLst/>
              <a:cxnLst/>
              <a:rect r="r" b="b" t="t" l="l"/>
              <a:pathLst>
                <a:path h="47005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70058"/>
                  </a:lnTo>
                  <a:lnTo>
                    <a:pt x="0" y="470058"/>
                  </a:lnTo>
                  <a:close/>
                </a:path>
              </a:pathLst>
            </a:custGeom>
            <a:solidFill>
              <a:srgbClr val="2D354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5081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228239" y="2144417"/>
            <a:ext cx="2752904" cy="2752893"/>
            <a:chOff x="0" y="0"/>
            <a:chExt cx="6350025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26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26">
                  <a:moveTo>
                    <a:pt x="0" y="0"/>
                  </a:moveTo>
                  <a:lnTo>
                    <a:pt x="6350026" y="0"/>
                  </a:lnTo>
                  <a:lnTo>
                    <a:pt x="6350026" y="6350000"/>
                  </a:lnTo>
                  <a:lnTo>
                    <a:pt x="0" y="6350000"/>
                  </a:lnTo>
                  <a:close/>
                </a:path>
              </a:pathLst>
            </a:custGeom>
            <a:blipFill>
              <a:blip r:embed="rId2"/>
              <a:stretch>
                <a:fillRect l="0" t="-157" r="0" b="-157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604691" y="9063879"/>
            <a:ext cx="1078597" cy="1072714"/>
          </a:xfrm>
          <a:custGeom>
            <a:avLst/>
            <a:gdLst/>
            <a:ahLst/>
            <a:cxnLst/>
            <a:rect r="r" b="b" t="t" l="l"/>
            <a:pathLst>
              <a:path h="1072714" w="1078597">
                <a:moveTo>
                  <a:pt x="0" y="0"/>
                </a:moveTo>
                <a:lnTo>
                  <a:pt x="1078597" y="0"/>
                </a:lnTo>
                <a:lnTo>
                  <a:pt x="1078597" y="1072714"/>
                </a:lnTo>
                <a:lnTo>
                  <a:pt x="0" y="10727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18530" y="7872139"/>
            <a:ext cx="1280192" cy="1280192"/>
          </a:xfrm>
          <a:custGeom>
            <a:avLst/>
            <a:gdLst/>
            <a:ahLst/>
            <a:cxnLst/>
            <a:rect r="r" b="b" t="t" l="l"/>
            <a:pathLst>
              <a:path h="1280192" w="1280192">
                <a:moveTo>
                  <a:pt x="0" y="0"/>
                </a:moveTo>
                <a:lnTo>
                  <a:pt x="1280193" y="0"/>
                </a:lnTo>
                <a:lnTo>
                  <a:pt x="1280193" y="1280193"/>
                </a:lnTo>
                <a:lnTo>
                  <a:pt x="0" y="12801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71679" y="7538397"/>
            <a:ext cx="1050391" cy="1173622"/>
          </a:xfrm>
          <a:custGeom>
            <a:avLst/>
            <a:gdLst/>
            <a:ahLst/>
            <a:cxnLst/>
            <a:rect r="r" b="b" t="t" l="l"/>
            <a:pathLst>
              <a:path h="1173622" w="1050391">
                <a:moveTo>
                  <a:pt x="0" y="0"/>
                </a:moveTo>
                <a:lnTo>
                  <a:pt x="1050391" y="0"/>
                </a:lnTo>
                <a:lnTo>
                  <a:pt x="1050391" y="1173621"/>
                </a:lnTo>
                <a:lnTo>
                  <a:pt x="0" y="1173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665217" y="1714042"/>
            <a:ext cx="14344433" cy="5894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10"/>
              </a:lnSpc>
            </a:pPr>
            <a:r>
              <a:rPr lang="en-US" sz="3405">
                <a:solidFill>
                  <a:srgbClr val="211F2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About Dataset : Dataset Contains Following Attributes</a:t>
            </a:r>
          </a:p>
          <a:p>
            <a:pPr algn="l">
              <a:lnSpc>
                <a:spcPts val="4633"/>
              </a:lnSpc>
            </a:pPr>
            <a:r>
              <a:rPr lang="en-US" sz="2316">
                <a:solidFill>
                  <a:srgbClr val="211F2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age: </a:t>
            </a:r>
            <a:r>
              <a:rPr lang="en-US" sz="2316">
                <a:solidFill>
                  <a:srgbClr val="211F20"/>
                </a:solidFill>
                <a:latin typeface="Proxima Nova"/>
                <a:ea typeface="Proxima Nova"/>
                <a:cs typeface="Proxima Nova"/>
                <a:sym typeface="Proxima Nova"/>
              </a:rPr>
              <a:t>age of primary beneficiary</a:t>
            </a:r>
          </a:p>
          <a:p>
            <a:pPr algn="l">
              <a:lnSpc>
                <a:spcPts val="4633"/>
              </a:lnSpc>
            </a:pPr>
            <a:r>
              <a:rPr lang="en-US" sz="2316">
                <a:solidFill>
                  <a:srgbClr val="211F2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sex: </a:t>
            </a:r>
            <a:r>
              <a:rPr lang="en-US" sz="2316">
                <a:solidFill>
                  <a:srgbClr val="211F20"/>
                </a:solidFill>
                <a:latin typeface="Proxima Nova"/>
                <a:ea typeface="Proxima Nova"/>
                <a:cs typeface="Proxima Nova"/>
                <a:sym typeface="Proxima Nova"/>
              </a:rPr>
              <a:t>insurance contractor gender, female, male</a:t>
            </a:r>
          </a:p>
          <a:p>
            <a:pPr algn="l">
              <a:lnSpc>
                <a:spcPts val="4633"/>
              </a:lnSpc>
            </a:pPr>
            <a:r>
              <a:rPr lang="en-US" sz="2316">
                <a:solidFill>
                  <a:srgbClr val="211F2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bmi: </a:t>
            </a:r>
            <a:r>
              <a:rPr lang="en-US" sz="2316">
                <a:solidFill>
                  <a:srgbClr val="211F20"/>
                </a:solidFill>
                <a:latin typeface="Proxima Nova"/>
                <a:ea typeface="Proxima Nova"/>
                <a:cs typeface="Proxima Nova"/>
                <a:sym typeface="Proxima Nova"/>
              </a:rPr>
              <a:t>Body mass index, providing an understanding of body, weights that are relatively high or low relative to height, objective index of body weight (kg / m ^ 2) using the ratio of height to weight, ideally 18.5 to 24.9</a:t>
            </a:r>
          </a:p>
          <a:p>
            <a:pPr algn="l">
              <a:lnSpc>
                <a:spcPts val="4633"/>
              </a:lnSpc>
            </a:pPr>
            <a:r>
              <a:rPr lang="en-US" sz="2316">
                <a:solidFill>
                  <a:srgbClr val="211F2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children:</a:t>
            </a:r>
            <a:r>
              <a:rPr lang="en-US" sz="2316">
                <a:solidFill>
                  <a:srgbClr val="211F20"/>
                </a:solidFill>
                <a:latin typeface="Proxima Nova"/>
                <a:ea typeface="Proxima Nova"/>
                <a:cs typeface="Proxima Nova"/>
                <a:sym typeface="Proxima Nova"/>
              </a:rPr>
              <a:t> Number of children covered by health insurance / Number of dependents</a:t>
            </a:r>
          </a:p>
          <a:p>
            <a:pPr algn="l">
              <a:lnSpc>
                <a:spcPts val="4633"/>
              </a:lnSpc>
            </a:pPr>
            <a:r>
              <a:rPr lang="en-US" sz="2316">
                <a:solidFill>
                  <a:srgbClr val="211F20"/>
                </a:solidFill>
                <a:latin typeface="Proxima Nova"/>
                <a:ea typeface="Proxima Nova"/>
                <a:cs typeface="Proxima Nova"/>
                <a:sym typeface="Proxima Nova"/>
              </a:rPr>
              <a:t>smoker: Smoking</a:t>
            </a:r>
          </a:p>
          <a:p>
            <a:pPr algn="l">
              <a:lnSpc>
                <a:spcPts val="4633"/>
              </a:lnSpc>
            </a:pPr>
            <a:r>
              <a:rPr lang="en-US" sz="2316">
                <a:solidFill>
                  <a:srgbClr val="211F2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region: </a:t>
            </a:r>
            <a:r>
              <a:rPr lang="en-US" sz="2316">
                <a:solidFill>
                  <a:srgbClr val="211F20"/>
                </a:solidFill>
                <a:latin typeface="Proxima Nova"/>
                <a:ea typeface="Proxima Nova"/>
                <a:cs typeface="Proxima Nova"/>
                <a:sym typeface="Proxima Nova"/>
              </a:rPr>
              <a:t>the beneficiary's residential area in the US, northeast, southeast, southwest, northwest.</a:t>
            </a:r>
          </a:p>
          <a:p>
            <a:pPr algn="l">
              <a:lnSpc>
                <a:spcPts val="4633"/>
              </a:lnSpc>
            </a:pPr>
            <a:r>
              <a:rPr lang="en-US" sz="2316">
                <a:solidFill>
                  <a:srgbClr val="211F20"/>
                </a:solidFill>
                <a:latin typeface="Proxima Nova"/>
                <a:ea typeface="Proxima Nova"/>
                <a:cs typeface="Proxima Nova"/>
                <a:sym typeface="Proxima Nova"/>
              </a:rPr>
              <a:t>charges: Individual medical costs billed by health insurance</a:t>
            </a:r>
          </a:p>
          <a:p>
            <a:pPr algn="l">
              <a:lnSpc>
                <a:spcPts val="3111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908659" y="688350"/>
            <a:ext cx="9661143" cy="947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0"/>
              </a:lnSpc>
            </a:pPr>
            <a:r>
              <a:rPr lang="en-US" sz="8000">
                <a:solidFill>
                  <a:srgbClr val="F7FDFE"/>
                </a:solidFill>
                <a:latin typeface="Bebas Neue"/>
                <a:ea typeface="Bebas Neue"/>
                <a:cs typeface="Bebas Neue"/>
                <a:sym typeface="Bebas Neue"/>
              </a:rPr>
              <a:t>DATASET OVERVIEW AND TOOLS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665217" y="7956900"/>
            <a:ext cx="13335350" cy="1643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90"/>
              </a:lnSpc>
            </a:pPr>
            <a:r>
              <a:rPr lang="en-US" sz="3445">
                <a:solidFill>
                  <a:srgbClr val="211F2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Tools</a:t>
            </a:r>
            <a:r>
              <a:rPr lang="en-US" sz="3445">
                <a:solidFill>
                  <a:srgbClr val="211F20"/>
                </a:solidFill>
                <a:latin typeface="Proxima Nova"/>
                <a:ea typeface="Proxima Nova"/>
                <a:cs typeface="Proxima Nova"/>
                <a:sym typeface="Proxima Nova"/>
              </a:rPr>
              <a:t>: These tools have used to Perform the Data Analysis and  Project creation  Excel , SQL , Python 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784750"/>
            <a:chOff x="0" y="0"/>
            <a:chExt cx="4816593" cy="4700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70058"/>
            </a:xfrm>
            <a:custGeom>
              <a:avLst/>
              <a:gdLst/>
              <a:ahLst/>
              <a:cxnLst/>
              <a:rect r="r" b="b" t="t" l="l"/>
              <a:pathLst>
                <a:path h="47005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70058"/>
                  </a:lnTo>
                  <a:lnTo>
                    <a:pt x="0" y="470058"/>
                  </a:lnTo>
                  <a:close/>
                </a:path>
              </a:pathLst>
            </a:custGeom>
            <a:solidFill>
              <a:srgbClr val="2D354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5081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976919" y="1784750"/>
            <a:ext cx="12984392" cy="8436548"/>
          </a:xfrm>
          <a:custGeom>
            <a:avLst/>
            <a:gdLst/>
            <a:ahLst/>
            <a:cxnLst/>
            <a:rect r="r" b="b" t="t" l="l"/>
            <a:pathLst>
              <a:path h="8436548" w="12984392">
                <a:moveTo>
                  <a:pt x="0" y="0"/>
                </a:moveTo>
                <a:lnTo>
                  <a:pt x="12984392" y="0"/>
                </a:lnTo>
                <a:lnTo>
                  <a:pt x="12984392" y="8436548"/>
                </a:lnTo>
                <a:lnTo>
                  <a:pt x="0" y="84365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13" r="0" b="-913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484501" y="552026"/>
            <a:ext cx="4183403" cy="947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0"/>
              </a:lnSpc>
            </a:pPr>
            <a:r>
              <a:rPr lang="en-US" sz="8000">
                <a:solidFill>
                  <a:srgbClr val="F7FDFE"/>
                </a:solidFill>
                <a:latin typeface="Bebas Neue"/>
                <a:ea typeface="Bebas Neue"/>
                <a:cs typeface="Bebas Neue"/>
                <a:sym typeface="Bebas Neue"/>
              </a:rPr>
              <a:t>DASHBOARDS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784750"/>
            <a:chOff x="0" y="0"/>
            <a:chExt cx="4816593" cy="4700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70058"/>
            </a:xfrm>
            <a:custGeom>
              <a:avLst/>
              <a:gdLst/>
              <a:ahLst/>
              <a:cxnLst/>
              <a:rect r="r" b="b" t="t" l="l"/>
              <a:pathLst>
                <a:path h="47005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70058"/>
                  </a:lnTo>
                  <a:lnTo>
                    <a:pt x="0" y="470058"/>
                  </a:lnTo>
                  <a:close/>
                </a:path>
              </a:pathLst>
            </a:custGeom>
            <a:solidFill>
              <a:srgbClr val="2D354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5081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976562" y="1784750"/>
            <a:ext cx="12801904" cy="8502250"/>
          </a:xfrm>
          <a:custGeom>
            <a:avLst/>
            <a:gdLst/>
            <a:ahLst/>
            <a:cxnLst/>
            <a:rect r="r" b="b" t="t" l="l"/>
            <a:pathLst>
              <a:path h="8502250" w="12801904">
                <a:moveTo>
                  <a:pt x="0" y="0"/>
                </a:moveTo>
                <a:lnTo>
                  <a:pt x="12801904" y="0"/>
                </a:lnTo>
                <a:lnTo>
                  <a:pt x="12801904" y="8502250"/>
                </a:lnTo>
                <a:lnTo>
                  <a:pt x="0" y="8502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484501" y="552026"/>
            <a:ext cx="4183403" cy="947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0"/>
              </a:lnSpc>
            </a:pPr>
            <a:r>
              <a:rPr lang="en-US" sz="8000">
                <a:solidFill>
                  <a:srgbClr val="F7FDFE"/>
                </a:solidFill>
                <a:latin typeface="Bebas Neue"/>
                <a:ea typeface="Bebas Neue"/>
                <a:cs typeface="Bebas Neue"/>
                <a:sym typeface="Bebas Neue"/>
              </a:rPr>
              <a:t>DASHBOARDS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784750"/>
            <a:chOff x="0" y="0"/>
            <a:chExt cx="4816593" cy="4700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70058"/>
            </a:xfrm>
            <a:custGeom>
              <a:avLst/>
              <a:gdLst/>
              <a:ahLst/>
              <a:cxnLst/>
              <a:rect r="r" b="b" t="t" l="l"/>
              <a:pathLst>
                <a:path h="47005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70058"/>
                  </a:lnTo>
                  <a:lnTo>
                    <a:pt x="0" y="470058"/>
                  </a:lnTo>
                  <a:close/>
                </a:path>
              </a:pathLst>
            </a:custGeom>
            <a:solidFill>
              <a:srgbClr val="2D354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5081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74247" y="2554703"/>
            <a:ext cx="8156601" cy="5949492"/>
          </a:xfrm>
          <a:custGeom>
            <a:avLst/>
            <a:gdLst/>
            <a:ahLst/>
            <a:cxnLst/>
            <a:rect r="r" b="b" t="t" l="l"/>
            <a:pathLst>
              <a:path h="5949492" w="8156601">
                <a:moveTo>
                  <a:pt x="0" y="0"/>
                </a:moveTo>
                <a:lnTo>
                  <a:pt x="8156602" y="0"/>
                </a:lnTo>
                <a:lnTo>
                  <a:pt x="8156602" y="5949493"/>
                </a:lnTo>
                <a:lnTo>
                  <a:pt x="0" y="59494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92" r="0" b="-792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202345" y="4174313"/>
            <a:ext cx="8833724" cy="769769"/>
          </a:xfrm>
          <a:custGeom>
            <a:avLst/>
            <a:gdLst/>
            <a:ahLst/>
            <a:cxnLst/>
            <a:rect r="r" b="b" t="t" l="l"/>
            <a:pathLst>
              <a:path h="769769" w="8833724">
                <a:moveTo>
                  <a:pt x="0" y="0"/>
                </a:moveTo>
                <a:lnTo>
                  <a:pt x="8833724" y="0"/>
                </a:lnTo>
                <a:lnTo>
                  <a:pt x="8833724" y="769769"/>
                </a:lnTo>
                <a:lnTo>
                  <a:pt x="0" y="7697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4444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359608" y="688350"/>
            <a:ext cx="6775548" cy="947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0"/>
              </a:lnSpc>
            </a:pPr>
            <a:r>
              <a:rPr lang="en-US" sz="8000">
                <a:solidFill>
                  <a:srgbClr val="F7FDFE"/>
                </a:solidFill>
                <a:latin typeface="Bebas Neue"/>
                <a:ea typeface="Bebas Neue"/>
                <a:cs typeface="Bebas Neue"/>
                <a:sym typeface="Bebas Neue"/>
              </a:rPr>
              <a:t>HYPOTHESIS TESTING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765722" y="2163935"/>
            <a:ext cx="5737885" cy="1147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0"/>
              </a:lnSpc>
            </a:pPr>
            <a:r>
              <a:rPr lang="en-US" sz="329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Performed Correlation Pearson Test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15408" y="5758972"/>
            <a:ext cx="8120661" cy="2621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5"/>
              </a:lnSpc>
            </a:pPr>
            <a:r>
              <a:rPr lang="en-US" sz="299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There is a Little Positive Correlation between Age and Medical Charges . If the Age will increase there is a chance the medical charges of a person will also increase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784750"/>
            <a:chOff x="0" y="0"/>
            <a:chExt cx="4816593" cy="4700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70058"/>
            </a:xfrm>
            <a:custGeom>
              <a:avLst/>
              <a:gdLst/>
              <a:ahLst/>
              <a:cxnLst/>
              <a:rect r="r" b="b" t="t" l="l"/>
              <a:pathLst>
                <a:path h="47005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70058"/>
                  </a:lnTo>
                  <a:lnTo>
                    <a:pt x="0" y="470058"/>
                  </a:lnTo>
                  <a:close/>
                </a:path>
              </a:pathLst>
            </a:custGeom>
            <a:solidFill>
              <a:srgbClr val="2D354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5081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64611" y="2447535"/>
            <a:ext cx="8482771" cy="6305304"/>
          </a:xfrm>
          <a:custGeom>
            <a:avLst/>
            <a:gdLst/>
            <a:ahLst/>
            <a:cxnLst/>
            <a:rect r="r" b="b" t="t" l="l"/>
            <a:pathLst>
              <a:path h="6305304" w="8482771">
                <a:moveTo>
                  <a:pt x="0" y="0"/>
                </a:moveTo>
                <a:lnTo>
                  <a:pt x="8482771" y="0"/>
                </a:lnTo>
                <a:lnTo>
                  <a:pt x="8482771" y="6305304"/>
                </a:lnTo>
                <a:lnTo>
                  <a:pt x="0" y="63053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360136" y="3759473"/>
            <a:ext cx="8549056" cy="954268"/>
          </a:xfrm>
          <a:custGeom>
            <a:avLst/>
            <a:gdLst/>
            <a:ahLst/>
            <a:cxnLst/>
            <a:rect r="r" b="b" t="t" l="l"/>
            <a:pathLst>
              <a:path h="954268" w="8549056">
                <a:moveTo>
                  <a:pt x="0" y="0"/>
                </a:moveTo>
                <a:lnTo>
                  <a:pt x="8549056" y="0"/>
                </a:lnTo>
                <a:lnTo>
                  <a:pt x="8549056" y="954268"/>
                </a:lnTo>
                <a:lnTo>
                  <a:pt x="0" y="9542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359608" y="688350"/>
            <a:ext cx="6775548" cy="947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0"/>
              </a:lnSpc>
            </a:pPr>
            <a:r>
              <a:rPr lang="en-US" sz="8000">
                <a:solidFill>
                  <a:srgbClr val="F7FDFE"/>
                </a:solidFill>
                <a:latin typeface="Bebas Neue"/>
                <a:ea typeface="Bebas Neue"/>
                <a:cs typeface="Bebas Neue"/>
                <a:sym typeface="Bebas Neue"/>
              </a:rPr>
              <a:t>HYPOTHESIS TESTING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765722" y="2163935"/>
            <a:ext cx="5737885" cy="1147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0"/>
              </a:lnSpc>
            </a:pPr>
            <a:r>
              <a:rPr lang="en-US" sz="329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Performed Correlation Pearson Test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22402" y="5763232"/>
            <a:ext cx="8624523" cy="2621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5"/>
              </a:lnSpc>
            </a:pPr>
            <a:r>
              <a:rPr lang="en-US" sz="299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There A positive correlation between BMI and Medical Charges . We can observe the linear relationship between both. Whenever BMI will increase Medical Charges of Person will also increase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784750"/>
            <a:chOff x="0" y="0"/>
            <a:chExt cx="4816593" cy="4700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70058"/>
            </a:xfrm>
            <a:custGeom>
              <a:avLst/>
              <a:gdLst/>
              <a:ahLst/>
              <a:cxnLst/>
              <a:rect r="r" b="b" t="t" l="l"/>
              <a:pathLst>
                <a:path h="47005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70058"/>
                  </a:lnTo>
                  <a:lnTo>
                    <a:pt x="0" y="470058"/>
                  </a:lnTo>
                  <a:close/>
                </a:path>
              </a:pathLst>
            </a:custGeom>
            <a:solidFill>
              <a:srgbClr val="2D354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5081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6725" y="2697927"/>
            <a:ext cx="10963205" cy="4839816"/>
          </a:xfrm>
          <a:custGeom>
            <a:avLst/>
            <a:gdLst/>
            <a:ahLst/>
            <a:cxnLst/>
            <a:rect r="r" b="b" t="t" l="l"/>
            <a:pathLst>
              <a:path h="4839816" w="10963205">
                <a:moveTo>
                  <a:pt x="0" y="0"/>
                </a:moveTo>
                <a:lnTo>
                  <a:pt x="10963205" y="0"/>
                </a:lnTo>
                <a:lnTo>
                  <a:pt x="10963205" y="4839816"/>
                </a:lnTo>
                <a:lnTo>
                  <a:pt x="0" y="48398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7" r="0" b="-817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27799" y="8452143"/>
            <a:ext cx="10029063" cy="921474"/>
          </a:xfrm>
          <a:custGeom>
            <a:avLst/>
            <a:gdLst/>
            <a:ahLst/>
            <a:cxnLst/>
            <a:rect r="r" b="b" t="t" l="l"/>
            <a:pathLst>
              <a:path h="921474" w="10029063">
                <a:moveTo>
                  <a:pt x="0" y="0"/>
                </a:moveTo>
                <a:lnTo>
                  <a:pt x="10029063" y="0"/>
                </a:lnTo>
                <a:lnTo>
                  <a:pt x="10029063" y="921473"/>
                </a:lnTo>
                <a:lnTo>
                  <a:pt x="0" y="9214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359608" y="688350"/>
            <a:ext cx="6775548" cy="947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0"/>
              </a:lnSpc>
            </a:pPr>
            <a:r>
              <a:rPr lang="en-US" sz="8000">
                <a:solidFill>
                  <a:srgbClr val="F7FDFE"/>
                </a:solidFill>
                <a:latin typeface="Bebas Neue"/>
                <a:ea typeface="Bebas Neue"/>
                <a:cs typeface="Bebas Neue"/>
                <a:sym typeface="Bebas Neue"/>
              </a:rPr>
              <a:t>HYPOTHESIS TESTING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90213" y="2208887"/>
            <a:ext cx="6152844" cy="1478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4"/>
              </a:lnSpc>
            </a:pPr>
            <a:r>
              <a:rPr lang="en-US" sz="283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Performed T-Test to compare Mean of Smoker vs Non-Smoker Medical Charges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794715" y="4838150"/>
            <a:ext cx="5848341" cy="2132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2"/>
              </a:lnSpc>
            </a:pPr>
            <a:r>
              <a:rPr lang="en-US" sz="243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By Seeing the figures and by observing the test we can say that there is a significant difference between mean of medical charges or smoker and non-smoker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784750"/>
            <a:chOff x="0" y="0"/>
            <a:chExt cx="4816593" cy="4700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70058"/>
            </a:xfrm>
            <a:custGeom>
              <a:avLst/>
              <a:gdLst/>
              <a:ahLst/>
              <a:cxnLst/>
              <a:rect r="r" b="b" t="t" l="l"/>
              <a:pathLst>
                <a:path h="47005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70058"/>
                  </a:lnTo>
                  <a:lnTo>
                    <a:pt x="0" y="470058"/>
                  </a:lnTo>
                  <a:close/>
                </a:path>
              </a:pathLst>
            </a:custGeom>
            <a:solidFill>
              <a:srgbClr val="2D354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5081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86111" y="3122913"/>
            <a:ext cx="11608604" cy="2624803"/>
          </a:xfrm>
          <a:custGeom>
            <a:avLst/>
            <a:gdLst/>
            <a:ahLst/>
            <a:cxnLst/>
            <a:rect r="r" b="b" t="t" l="l"/>
            <a:pathLst>
              <a:path h="2624803" w="11608604">
                <a:moveTo>
                  <a:pt x="0" y="0"/>
                </a:moveTo>
                <a:lnTo>
                  <a:pt x="11608604" y="0"/>
                </a:lnTo>
                <a:lnTo>
                  <a:pt x="11608604" y="2624803"/>
                </a:lnTo>
                <a:lnTo>
                  <a:pt x="0" y="26248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35073" y="7233616"/>
            <a:ext cx="11310680" cy="1338125"/>
          </a:xfrm>
          <a:custGeom>
            <a:avLst/>
            <a:gdLst/>
            <a:ahLst/>
            <a:cxnLst/>
            <a:rect r="r" b="b" t="t" l="l"/>
            <a:pathLst>
              <a:path h="1338125" w="11310680">
                <a:moveTo>
                  <a:pt x="0" y="0"/>
                </a:moveTo>
                <a:lnTo>
                  <a:pt x="11310680" y="0"/>
                </a:lnTo>
                <a:lnTo>
                  <a:pt x="11310680" y="1338125"/>
                </a:lnTo>
                <a:lnTo>
                  <a:pt x="0" y="13381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359608" y="688350"/>
            <a:ext cx="6775548" cy="947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0"/>
              </a:lnSpc>
            </a:pPr>
            <a:r>
              <a:rPr lang="en-US" sz="8000">
                <a:solidFill>
                  <a:srgbClr val="F7FDFE"/>
                </a:solidFill>
                <a:latin typeface="Bebas Neue"/>
                <a:ea typeface="Bebas Neue"/>
                <a:cs typeface="Bebas Neue"/>
                <a:sym typeface="Bebas Neue"/>
              </a:rPr>
              <a:t>HYPOTHESIS TESTING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097809" y="2013254"/>
            <a:ext cx="6913043" cy="1376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82"/>
              </a:lnSpc>
            </a:pPr>
            <a:r>
              <a:rPr lang="en-US" sz="263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Performed One-way ANNOVA to compare Mean Medical Charges Across different regions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162511" y="5101611"/>
            <a:ext cx="5848341" cy="2132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2"/>
              </a:lnSpc>
            </a:pPr>
            <a:r>
              <a:rPr lang="en-US" sz="243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By Seeing the figures and by observing the test we can say that there is a significant difference between mean of medical charges of different Regions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784750"/>
            <a:chOff x="0" y="0"/>
            <a:chExt cx="4816593" cy="4700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70058"/>
            </a:xfrm>
            <a:custGeom>
              <a:avLst/>
              <a:gdLst/>
              <a:ahLst/>
              <a:cxnLst/>
              <a:rect r="r" b="b" t="t" l="l"/>
              <a:pathLst>
                <a:path h="47005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70058"/>
                  </a:lnTo>
                  <a:lnTo>
                    <a:pt x="0" y="470058"/>
                  </a:lnTo>
                  <a:close/>
                </a:path>
              </a:pathLst>
            </a:custGeom>
            <a:solidFill>
              <a:srgbClr val="2D354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5081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2021931"/>
            <a:ext cx="7169812" cy="6042970"/>
          </a:xfrm>
          <a:custGeom>
            <a:avLst/>
            <a:gdLst/>
            <a:ahLst/>
            <a:cxnLst/>
            <a:rect r="r" b="b" t="t" l="l"/>
            <a:pathLst>
              <a:path h="6042970" w="7169812">
                <a:moveTo>
                  <a:pt x="0" y="0"/>
                </a:moveTo>
                <a:lnTo>
                  <a:pt x="7169812" y="0"/>
                </a:lnTo>
                <a:lnTo>
                  <a:pt x="7169812" y="6042970"/>
                </a:lnTo>
                <a:lnTo>
                  <a:pt x="0" y="60429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06521" y="8855759"/>
            <a:ext cx="9169074" cy="1026853"/>
          </a:xfrm>
          <a:custGeom>
            <a:avLst/>
            <a:gdLst/>
            <a:ahLst/>
            <a:cxnLst/>
            <a:rect r="r" b="b" t="t" l="l"/>
            <a:pathLst>
              <a:path h="1026853" w="9169074">
                <a:moveTo>
                  <a:pt x="0" y="0"/>
                </a:moveTo>
                <a:lnTo>
                  <a:pt x="9169074" y="0"/>
                </a:lnTo>
                <a:lnTo>
                  <a:pt x="9169074" y="1026853"/>
                </a:lnTo>
                <a:lnTo>
                  <a:pt x="0" y="10268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359608" y="688350"/>
            <a:ext cx="6775548" cy="947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0"/>
              </a:lnSpc>
            </a:pPr>
            <a:r>
              <a:rPr lang="en-US" sz="8000">
                <a:solidFill>
                  <a:srgbClr val="F7FDFE"/>
                </a:solidFill>
                <a:latin typeface="Bebas Neue"/>
                <a:ea typeface="Bebas Neue"/>
                <a:cs typeface="Bebas Neue"/>
                <a:sym typeface="Bebas Neue"/>
              </a:rPr>
              <a:t>HYPOTHESIS TESTING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78303" y="2267757"/>
            <a:ext cx="7467338" cy="911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82"/>
              </a:lnSpc>
            </a:pPr>
            <a:r>
              <a:rPr lang="en-US" sz="263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Performed Chi-Square Test to check association between smoker and region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20662" y="4756505"/>
            <a:ext cx="6532813" cy="1432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2"/>
              </a:lnSpc>
            </a:pPr>
            <a:r>
              <a:rPr lang="en-US" sz="272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By observing the test we can say that there is no significant Association between Smoker Status and Region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77" r="0" b="-927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5885" y="2486670"/>
            <a:ext cx="18518589" cy="8080599"/>
            <a:chOff x="0" y="0"/>
            <a:chExt cx="4877324" cy="212822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77324" cy="2128224"/>
            </a:xfrm>
            <a:custGeom>
              <a:avLst/>
              <a:gdLst/>
              <a:ahLst/>
              <a:cxnLst/>
              <a:rect r="r" b="b" t="t" l="l"/>
              <a:pathLst>
                <a:path h="2128224" w="4877324">
                  <a:moveTo>
                    <a:pt x="0" y="0"/>
                  </a:moveTo>
                  <a:lnTo>
                    <a:pt x="4877324" y="0"/>
                  </a:lnTo>
                  <a:lnTo>
                    <a:pt x="4877324" y="2128224"/>
                  </a:lnTo>
                  <a:lnTo>
                    <a:pt x="0" y="212822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77324" cy="2166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15294" y="0"/>
            <a:ext cx="18403294" cy="2486670"/>
            <a:chOff x="0" y="0"/>
            <a:chExt cx="4846958" cy="6549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46958" cy="654925"/>
            </a:xfrm>
            <a:custGeom>
              <a:avLst/>
              <a:gdLst/>
              <a:ahLst/>
              <a:cxnLst/>
              <a:rect r="r" b="b" t="t" l="l"/>
              <a:pathLst>
                <a:path h="654925" w="4846958">
                  <a:moveTo>
                    <a:pt x="0" y="0"/>
                  </a:moveTo>
                  <a:lnTo>
                    <a:pt x="4846958" y="0"/>
                  </a:lnTo>
                  <a:lnTo>
                    <a:pt x="4846958" y="654925"/>
                  </a:lnTo>
                  <a:lnTo>
                    <a:pt x="0" y="654925"/>
                  </a:lnTo>
                  <a:close/>
                </a:path>
              </a:pathLst>
            </a:custGeom>
            <a:solidFill>
              <a:srgbClr val="2D354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846958" cy="693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843337" y="902986"/>
            <a:ext cx="2943685" cy="947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0"/>
              </a:lnSpc>
            </a:pPr>
            <a:r>
              <a:rPr lang="en-US" sz="8000">
                <a:solidFill>
                  <a:srgbClr val="F7FDFE"/>
                </a:solidFill>
                <a:latin typeface="Bebas Neue"/>
                <a:ea typeface="Bebas Neue"/>
                <a:cs typeface="Bebas Neue"/>
                <a:sym typeface="Bebas Neue"/>
              </a:rPr>
              <a:t>INSIGHTS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0" y="3124488"/>
            <a:ext cx="17854405" cy="580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Males slightly outnumber females in the dataset, with </a:t>
            </a:r>
            <a:r>
              <a:rPr lang="en-US" sz="3399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676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males and </a:t>
            </a:r>
            <a:r>
              <a:rPr lang="en-US" sz="3399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662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females.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0" y="4204216"/>
            <a:ext cx="18288000" cy="1180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There are </a:t>
            </a:r>
            <a:r>
              <a:rPr lang="en-US" sz="3399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20%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Smokers and</a:t>
            </a:r>
            <a:r>
              <a:rPr lang="en-US" sz="3399">
                <a:solidFill>
                  <a:srgbClr val="FF3131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80%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Non-Smokers of the Whole population of the patients 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0" y="5511570"/>
            <a:ext cx="18288000" cy="1180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There is a Significantly High Difference Between The Medical Charges of Patients who smoke and who don’t smoke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0" y="7033405"/>
            <a:ext cx="18288000" cy="1180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Northeast Patients are </a:t>
            </a:r>
            <a:r>
              <a:rPr lang="en-US" sz="3399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24%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Northwest Patients are </a:t>
            </a:r>
            <a:r>
              <a:rPr lang="en-US" sz="3399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24%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. Southeast Patients are </a:t>
            </a:r>
            <a:r>
              <a:rPr lang="en-US" sz="3399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27%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and Southwest Patients are  </a:t>
            </a:r>
            <a:r>
              <a:rPr lang="en-US" sz="3399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25%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of the Whole Population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0" y="8709126"/>
            <a:ext cx="18288000" cy="580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Most of The People are of Age Range</a:t>
            </a:r>
            <a:r>
              <a:rPr lang="en-US" sz="3399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18-25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and</a:t>
            </a:r>
            <a:r>
              <a:rPr lang="en-US" sz="3399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50 above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77" r="0" b="-927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5885" y="2206401"/>
            <a:ext cx="18518589" cy="8080599"/>
            <a:chOff x="0" y="0"/>
            <a:chExt cx="4877324" cy="212822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77324" cy="2128224"/>
            </a:xfrm>
            <a:custGeom>
              <a:avLst/>
              <a:gdLst/>
              <a:ahLst/>
              <a:cxnLst/>
              <a:rect r="r" b="b" t="t" l="l"/>
              <a:pathLst>
                <a:path h="2128224" w="4877324">
                  <a:moveTo>
                    <a:pt x="0" y="0"/>
                  </a:moveTo>
                  <a:lnTo>
                    <a:pt x="4877324" y="0"/>
                  </a:lnTo>
                  <a:lnTo>
                    <a:pt x="4877324" y="2128224"/>
                  </a:lnTo>
                  <a:lnTo>
                    <a:pt x="0" y="212822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77324" cy="2166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15294" y="0"/>
            <a:ext cx="18403294" cy="2486670"/>
            <a:chOff x="0" y="0"/>
            <a:chExt cx="4846958" cy="6549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46958" cy="654925"/>
            </a:xfrm>
            <a:custGeom>
              <a:avLst/>
              <a:gdLst/>
              <a:ahLst/>
              <a:cxnLst/>
              <a:rect r="r" b="b" t="t" l="l"/>
              <a:pathLst>
                <a:path h="654925" w="4846958">
                  <a:moveTo>
                    <a:pt x="0" y="0"/>
                  </a:moveTo>
                  <a:lnTo>
                    <a:pt x="4846958" y="0"/>
                  </a:lnTo>
                  <a:lnTo>
                    <a:pt x="4846958" y="654925"/>
                  </a:lnTo>
                  <a:lnTo>
                    <a:pt x="0" y="654925"/>
                  </a:lnTo>
                  <a:close/>
                </a:path>
              </a:pathLst>
            </a:custGeom>
            <a:solidFill>
              <a:srgbClr val="2D354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846958" cy="693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843337" y="902986"/>
            <a:ext cx="2943685" cy="947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0"/>
              </a:lnSpc>
            </a:pPr>
            <a:r>
              <a:rPr lang="en-US" sz="8000">
                <a:solidFill>
                  <a:srgbClr val="F7FDFE"/>
                </a:solidFill>
                <a:latin typeface="Bebas Neue"/>
                <a:ea typeface="Bebas Neue"/>
                <a:cs typeface="Bebas Neue"/>
                <a:sym typeface="Bebas Neue"/>
              </a:rPr>
              <a:t>INSIGHTS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0" y="3124488"/>
            <a:ext cx="17854405" cy="1180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Most of the Smokers and Non-Smokers are of Age Range </a:t>
            </a:r>
            <a:r>
              <a:rPr lang="en-US" sz="3399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18-25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and </a:t>
            </a:r>
            <a:r>
              <a:rPr lang="en-US" sz="3399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50 above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other are less numbers of smokers and non-smokers .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0" y="4689545"/>
            <a:ext cx="18288000" cy="1180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Male Smokers have higher BMI as Compared to Female Smokers and also Male   Non-smokers have higher BMI as compared to Female Non-Smokers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0" y="6699335"/>
            <a:ext cx="18288000" cy="1180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Average Medical Charges of Both Males and Females are high If they are smokers as compared to Non-Smokers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0" y="8709126"/>
            <a:ext cx="18288000" cy="580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Further Insights can be Derived  by Using the Dashboard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D35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661" t="0" r="-15661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15294" y="3841526"/>
            <a:ext cx="18518589" cy="6493099"/>
            <a:chOff x="0" y="0"/>
            <a:chExt cx="4877324" cy="17101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77324" cy="1710117"/>
            </a:xfrm>
            <a:custGeom>
              <a:avLst/>
              <a:gdLst/>
              <a:ahLst/>
              <a:cxnLst/>
              <a:rect r="r" b="b" t="t" l="l"/>
              <a:pathLst>
                <a:path h="1710117" w="4877324">
                  <a:moveTo>
                    <a:pt x="0" y="0"/>
                  </a:moveTo>
                  <a:lnTo>
                    <a:pt x="4877324" y="0"/>
                  </a:lnTo>
                  <a:lnTo>
                    <a:pt x="4877324" y="1710117"/>
                  </a:lnTo>
                  <a:lnTo>
                    <a:pt x="0" y="1710117"/>
                  </a:lnTo>
                  <a:close/>
                </a:path>
              </a:pathLst>
            </a:custGeom>
            <a:solidFill>
              <a:srgbClr val="48BAC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77324" cy="1748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028700" y="1143032"/>
            <a:ext cx="8115300" cy="8115268"/>
            <a:chOff x="0" y="0"/>
            <a:chExt cx="6350025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26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26">
                  <a:moveTo>
                    <a:pt x="0" y="0"/>
                  </a:moveTo>
                  <a:lnTo>
                    <a:pt x="6350026" y="0"/>
                  </a:lnTo>
                  <a:lnTo>
                    <a:pt x="6350026" y="6350000"/>
                  </a:lnTo>
                  <a:lnTo>
                    <a:pt x="0" y="6350000"/>
                  </a:lnTo>
                  <a:close/>
                </a:path>
              </a:pathLst>
            </a:custGeom>
            <a:blipFill>
              <a:blip r:embed="rId3"/>
              <a:stretch>
                <a:fillRect l="-24999" t="0" r="-24999" b="0"/>
              </a:stretch>
            </a:blipFill>
          </p:spPr>
        </p:sp>
      </p:grpSp>
      <p:sp>
        <p:nvSpPr>
          <p:cNvPr name="AutoShape 8" id="8"/>
          <p:cNvSpPr/>
          <p:nvPr/>
        </p:nvSpPr>
        <p:spPr>
          <a:xfrm flipV="true">
            <a:off x="10192039" y="8358196"/>
            <a:ext cx="9177125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V="true">
            <a:off x="10192039" y="1157320"/>
            <a:ext cx="9177125" cy="0"/>
          </a:xfrm>
          <a:prstGeom prst="line">
            <a:avLst/>
          </a:prstGeom>
          <a:ln cap="flat" w="28575">
            <a:solidFill>
              <a:srgbClr val="2D354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0192039" y="6041915"/>
            <a:ext cx="985677" cy="985677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DF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400235" y="6331591"/>
            <a:ext cx="569283" cy="406326"/>
          </a:xfrm>
          <a:custGeom>
            <a:avLst/>
            <a:gdLst/>
            <a:ahLst/>
            <a:cxnLst/>
            <a:rect r="r" b="b" t="t" l="l"/>
            <a:pathLst>
              <a:path h="406326" w="569283">
                <a:moveTo>
                  <a:pt x="0" y="0"/>
                </a:moveTo>
                <a:lnTo>
                  <a:pt x="569284" y="0"/>
                </a:lnTo>
                <a:lnTo>
                  <a:pt x="569284" y="406326"/>
                </a:lnTo>
                <a:lnTo>
                  <a:pt x="0" y="4063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0192039" y="4650662"/>
            <a:ext cx="985677" cy="985677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DFE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0264987" y="4723610"/>
            <a:ext cx="839780" cy="839780"/>
          </a:xfrm>
          <a:custGeom>
            <a:avLst/>
            <a:gdLst/>
            <a:ahLst/>
            <a:cxnLst/>
            <a:rect r="r" b="b" t="t" l="l"/>
            <a:pathLst>
              <a:path h="839780" w="839780">
                <a:moveTo>
                  <a:pt x="0" y="0"/>
                </a:moveTo>
                <a:lnTo>
                  <a:pt x="839780" y="0"/>
                </a:lnTo>
                <a:lnTo>
                  <a:pt x="839780" y="839780"/>
                </a:lnTo>
                <a:lnTo>
                  <a:pt x="0" y="8397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684877" y="2166217"/>
            <a:ext cx="5337425" cy="947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0"/>
              </a:lnSpc>
            </a:pPr>
            <a:r>
              <a:rPr lang="en-US" sz="8000">
                <a:solidFill>
                  <a:srgbClr val="2D3541"/>
                </a:solidFill>
                <a:latin typeface="Bebas Neue"/>
                <a:ea typeface="Bebas Neue"/>
                <a:cs typeface="Bebas Neue"/>
                <a:sym typeface="Bebas Neue"/>
              </a:rPr>
              <a:t>THANK YOU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507689" y="6236968"/>
            <a:ext cx="5110902" cy="500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0"/>
              </a:lnSpc>
            </a:pPr>
            <a:r>
              <a:rPr lang="en-US" sz="3000">
                <a:solidFill>
                  <a:srgbClr val="F7FDFE"/>
                </a:solidFill>
                <a:latin typeface="Proxima Nova"/>
                <a:ea typeface="Proxima Nova"/>
                <a:cs typeface="Proxima Nova"/>
                <a:sym typeface="Proxima Nova"/>
              </a:rPr>
              <a:t>ilyasamish@gmail.com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507689" y="4869213"/>
            <a:ext cx="5110902" cy="500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0"/>
              </a:lnSpc>
            </a:pPr>
            <a:r>
              <a:rPr lang="en-US" sz="3000">
                <a:solidFill>
                  <a:srgbClr val="F7FDFE"/>
                </a:solidFill>
                <a:latin typeface="Proxima Nova"/>
                <a:ea typeface="Proxima Nova"/>
                <a:cs typeface="Proxima Nova"/>
                <a:sym typeface="Proxima Nova"/>
              </a:rPr>
              <a:t>Amish Ilyas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DAGOZQrQzNo</dc:identifier>
  <dcterms:modified xsi:type="dcterms:W3CDTF">2011-08-01T06:04:30Z</dcterms:modified>
  <cp:revision>1</cp:revision>
  <dc:title>White and Blue Minimalist Medical Presentation</dc:title>
</cp:coreProperties>
</file>